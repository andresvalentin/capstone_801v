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14"/>
  </p:notesMasterIdLst>
  <p:sldIdLst>
    <p:sldId id="263" r:id="rId6"/>
    <p:sldId id="291" r:id="rId7"/>
    <p:sldId id="295" r:id="rId8"/>
    <p:sldId id="296" r:id="rId9"/>
    <p:sldId id="297" r:id="rId10"/>
    <p:sldId id="298" r:id="rId11"/>
    <p:sldId id="299" r:id="rId12"/>
    <p:sldId id="300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7EAE37-A9FA-4F65-BA6B-31733C4128DA}" type="datetimeFigureOut">
              <a:rPr lang="es-ES" smtClean="0"/>
              <a:t>31/08/2026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AAD963-72E3-4AD0-A797-6F43D6A1BAC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9078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57ABB-14D4-3ADD-168C-3F91241EC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4E7F8F-6C87-FC11-626E-83265F125A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2810A5-266C-FDF5-F042-8418805D18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DF776-549E-1644-9EB7-6D17332D9D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21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54697-5786-6D5F-3B66-F1DD50D7E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851730-D6ED-15F7-B451-0AD9CD33F1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D16815-13F5-8357-74ED-78500FF8E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9BC5E-CD2E-7E38-3991-DB2A502E9F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10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E22FB-69A9-E87F-A6BB-5CC081704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1D1AAF-793B-FDE1-9777-130BACE691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70BCD-CC53-C7D7-B737-9F99D95AC2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41F20-66FF-923C-D35D-FBF9D79E1E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581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CA08E-44AA-8BE0-3BB0-0710D0D98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AD9DFF-0299-E7B5-EF40-040692E5BD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997ED3-52DA-8559-7532-629AEACECB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F2842-DB42-E874-8A16-9CE8C57B9C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713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57BE7-D26E-7D72-4B50-D5E4ADC3A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DC5F8F-A211-29F7-FE44-B7841A42C4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4FAE6E-291A-180A-69EC-03DCAC68F0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14991-9345-41B2-C71B-21F460D7C7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071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721E7-797B-E7AF-9204-A8D7676DB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9AAB19-26A9-DA0A-1201-1CC06D0BA8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91B95F-4871-F26D-0728-33B596FEAA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B5889-FB10-F260-940D-A37350B9AB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6192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DDBDF-CA6A-461F-15F1-E9FA55F27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E7BC8F-F90D-A29F-5BEA-8C84524ED7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954003-DF32-1471-F1E6-414F8095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839A81-A68D-7342-FEFA-181F362440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4062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C01BB-378F-1B1E-580F-88555792B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60588B-8B55-E7FF-666E-2FC8A2DB79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D8453D-BA99-A2F1-BA9B-D41BC03584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B5CCA-38DD-8CC2-3FD5-64FB310FE6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198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CBCDB0-741A-DDE8-7DFD-8016085E47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DDF146-1399-DB29-6898-1C6AE40A48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37D1D5-B741-DBAE-D705-60D2CD9F2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767EB-9B5B-4648-AB7D-F9D0BAE63E61}" type="datetimeFigureOut">
              <a:rPr lang="es-ES" smtClean="0"/>
              <a:t>31/08/2026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66C8FF-FBE6-4368-4FD5-59228C134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3CCBF7-9D5B-64B9-FAAF-F4D660E4C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B60B-3E70-49E3-9B40-4D590FD0AF2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5956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57A911-E1ED-115E-DFBD-8C6432590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F40C4E-8B78-9EA0-B892-47E1FCBE1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368F33-2039-02AE-6C9C-E45EC9E7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767EB-9B5B-4648-AB7D-F9D0BAE63E61}" type="datetimeFigureOut">
              <a:rPr lang="es-ES" smtClean="0"/>
              <a:t>31/08/2026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4A61D9-773D-D4C3-3166-B7BF6BAA6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5A6FE8-8D72-0C8A-A9FA-7B8FC1B81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B60B-3E70-49E3-9B40-4D590FD0AF2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82864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7222C7-D4B2-A505-7C69-DF5CA2685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CF2FF6-47DE-005C-11FD-0A2833FC7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A16CF06-D6C1-82A5-10DF-2366A4A4D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767EB-9B5B-4648-AB7D-F9D0BAE63E61}" type="datetimeFigureOut">
              <a:rPr lang="es-ES" smtClean="0"/>
              <a:t>31/08/2026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1D0F90-8D8B-CA0F-6CB6-F8B03864B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DDA5B3-945F-0846-B95D-9E6C25C6E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B60B-3E70-49E3-9B40-4D590FD0AF2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6866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9B284-A555-292D-0FE0-ACC769507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CA3431-CC5D-4C31-80B1-5A5A71E324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ADD261F-8E96-951E-A447-3C84753B0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F53B4B-DCB8-E13D-5609-0FC4A8933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767EB-9B5B-4648-AB7D-F9D0BAE63E61}" type="datetimeFigureOut">
              <a:rPr lang="es-ES" smtClean="0"/>
              <a:t>31/08/2026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CDB3984-11E4-F298-93E7-1D4737DD0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628D7B8-10E1-E269-42F6-938882641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B60B-3E70-49E3-9B40-4D590FD0AF2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1368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9C9D3D-9656-FEA4-8138-7A286F0D4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E6DBEFF-6821-86DE-6E2C-DCE35FD13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4F6F6C8-BB90-324A-B3A2-BA1D02C13B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77CA6F7-62DE-5A7A-5BDA-6A6519B784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E06C331-657E-BDED-A587-CDF5083B0D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6CB48FF-D612-6959-F0C5-3FBBAE38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767EB-9B5B-4648-AB7D-F9D0BAE63E61}" type="datetimeFigureOut">
              <a:rPr lang="es-ES" smtClean="0"/>
              <a:t>31/08/2026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0A3311D-D48A-51A4-D60B-196CEFE2C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73B2ADD-3FF4-6F72-359C-574620E0C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B60B-3E70-49E3-9B40-4D590FD0AF2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6312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440C76-74C9-D65C-374B-5EB1B07DB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37EC5A5-DF53-F891-EF03-FD3170F16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767EB-9B5B-4648-AB7D-F9D0BAE63E61}" type="datetimeFigureOut">
              <a:rPr lang="es-ES" smtClean="0"/>
              <a:t>31/08/2026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2A3A6CE-F443-3D9A-AD62-56F9BCF62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8B80CD9-11C7-5CFE-6E89-A035A84DC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B60B-3E70-49E3-9B40-4D590FD0AF2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2648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A4DE587-7DE4-2482-5D8D-2C4769754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767EB-9B5B-4648-AB7D-F9D0BAE63E61}" type="datetimeFigureOut">
              <a:rPr lang="es-ES" smtClean="0"/>
              <a:t>31/08/2026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B3837D5-2875-3453-46AC-2942B981E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5E4282-0B8C-7049-2551-C4914297F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B60B-3E70-49E3-9B40-4D590FD0AF2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1970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166642-E796-41D4-8CF6-FAE1B04EF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7CAE4-3010-AB2E-624C-B04D86694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84A7B7C-60B9-95C9-8B6F-BAB5FB54FB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3AF1B7A-87C2-D03E-9BAA-B56FDF1FB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767EB-9B5B-4648-AB7D-F9D0BAE63E61}" type="datetimeFigureOut">
              <a:rPr lang="es-ES" smtClean="0"/>
              <a:t>31/08/2026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FB717A7-A773-E702-237C-AC3D41B21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0664C02-8C5A-039F-2FE5-5413CB426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B60B-3E70-49E3-9B40-4D590FD0AF2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85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8E00B5-C44A-07C0-C3D9-544AA0676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C5EA51C-027A-116B-4C78-B0FA4679B1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3BB4045-1229-61A6-C64C-9A0E595BD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77C23E6-B5EE-2AA6-3B82-8B6CD945D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767EB-9B5B-4648-AB7D-F9D0BAE63E61}" type="datetimeFigureOut">
              <a:rPr lang="es-ES" smtClean="0"/>
              <a:t>31/08/2026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04F1A29-917F-6D20-CF86-88AAFA59F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5C80BCA-4DF7-F2E4-52BD-A27F0A8B2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B60B-3E70-49E3-9B40-4D590FD0AF2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6940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66C649-BE3F-F2BA-0B6D-FDAE578E0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51EE09-3402-BA33-ABF9-18F165438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F4A013-7468-5AAA-285C-791A9DB98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767EB-9B5B-4648-AB7D-F9D0BAE63E61}" type="datetimeFigureOut">
              <a:rPr lang="es-ES" smtClean="0"/>
              <a:t>31/08/2026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D38F13-F484-D848-196A-9C9E06201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CECB88-16ED-8C20-47C2-68FA8BF0A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B60B-3E70-49E3-9B40-4D590FD0AF2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5073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D7EBEEC-9750-4EED-D3A9-FCB3FE4FBC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D7B50-78D9-A355-A20A-A0BCA87B14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3104BD-A3E6-CBE2-1E97-36A862E57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767EB-9B5B-4648-AB7D-F9D0BAE63E61}" type="datetimeFigureOut">
              <a:rPr lang="es-ES" smtClean="0"/>
              <a:t>31/08/2026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C4A02B-6960-583A-5407-CA2DF18A1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B4A04A-9755-05D7-8424-F74E5E5D0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B60B-3E70-49E3-9B40-4D590FD0AF2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9526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01871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4493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1C93E96-AF22-F3F8-0F9C-AF155745C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47997A8-D974-E9FD-6AFB-C67213E67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F97045-F1C5-F0BA-1F2E-D1993BFE57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1767EB-9B5B-4648-AB7D-F9D0BAE63E61}" type="datetimeFigureOut">
              <a:rPr lang="es-ES" smtClean="0"/>
              <a:t>31/08/2026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2E56E7-6A58-3313-B4AA-6627E989C3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8583B4-52B6-F6D1-A0BC-D1EAFEF039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3AB60B-3E70-49E3-9B40-4D590FD0AF2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7799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720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687042-D94A-1652-56F6-29D08B565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1161FFB-07B2-9EB8-DE52-55217E2383A0}"/>
              </a:ext>
            </a:extLst>
          </p:cNvPr>
          <p:cNvSpPr/>
          <p:nvPr/>
        </p:nvSpPr>
        <p:spPr>
          <a:xfrm>
            <a:off x="-1828800" y="-1828800"/>
            <a:ext cx="5029200" cy="5029200"/>
          </a:xfrm>
          <a:prstGeom prst="ellipse">
            <a:avLst/>
          </a:prstGeom>
          <a:solidFill>
            <a:srgbClr val="263882"/>
          </a:solidFill>
          <a:ln/>
        </p:spPr>
        <p:txBody>
          <a:bodyPr/>
          <a:lstStyle/>
          <a:p>
            <a:endParaRPr lang="es-E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DB7F94B-3663-8DE1-8C14-6653A812DE26}"/>
              </a:ext>
            </a:extLst>
          </p:cNvPr>
          <p:cNvSpPr/>
          <p:nvPr/>
        </p:nvSpPr>
        <p:spPr>
          <a:xfrm>
            <a:off x="822960" y="2286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01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B92AA61-A65A-CCDE-8E53-42FFD86D97EE}"/>
              </a:ext>
            </a:extLst>
          </p:cNvPr>
          <p:cNvSpPr/>
          <p:nvPr/>
        </p:nvSpPr>
        <p:spPr>
          <a:xfrm>
            <a:off x="822960" y="30632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Rendición</a:t>
            </a: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</a:t>
            </a:r>
            <a:r>
              <a:rPr lang="en-US" sz="3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gastos</a:t>
            </a: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BDDE916-FC61-D567-39D8-187413DFF9D6}"/>
              </a:ext>
            </a:extLst>
          </p:cNvPr>
          <p:cNvSpPr/>
          <p:nvPr/>
        </p:nvSpPr>
        <p:spPr>
          <a:xfrm>
            <a:off x="822960" y="37947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crear una rendición de gastos dentro del sistema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FC230A2-5D8F-83EB-1F11-37CCDB6E9C26}"/>
              </a:ext>
            </a:extLst>
          </p:cNvPr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FBFCFF6-487F-7D5D-8A8E-BAEA6798C21A}"/>
              </a:ext>
            </a:extLst>
          </p:cNvPr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5733146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B22B7-578F-68B1-3CC0-7703F076F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20">
            <a:extLst>
              <a:ext uri="{FF2B5EF4-FFF2-40B4-BE49-F238E27FC236}">
                <a16:creationId xmlns:a16="http://schemas.microsoft.com/office/drawing/2014/main" id="{69C97EE7-E1F2-2723-D83C-4575D554C4F4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900" noProof="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1C · Rendición de gastos</a:t>
            </a:r>
            <a:endParaRPr lang="es-CL" sz="900" noProof="0" dirty="0"/>
          </a:p>
        </p:txBody>
      </p:sp>
      <p:sp>
        <p:nvSpPr>
          <p:cNvPr id="19" name="Text 36">
            <a:extLst>
              <a:ext uri="{FF2B5EF4-FFF2-40B4-BE49-F238E27FC236}">
                <a16:creationId xmlns:a16="http://schemas.microsoft.com/office/drawing/2014/main" id="{2BD442FA-7AFE-D15A-C340-0DF710F12534}"/>
              </a:ext>
            </a:extLst>
          </p:cNvPr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900" noProof="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s-CL" sz="900" noProof="0" dirty="0"/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CE22005D-E2F8-A48F-4D5B-CB17367CAD90}"/>
              </a:ext>
            </a:extLst>
          </p:cNvPr>
          <p:cNvSpPr/>
          <p:nvPr/>
        </p:nvSpPr>
        <p:spPr>
          <a:xfrm>
            <a:off x="868680" y="306565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2400" b="1" noProof="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Reclamaciones de gastos</a:t>
            </a:r>
            <a:endParaRPr lang="es-CL" sz="2400" noProof="0" dirty="0">
              <a:solidFill>
                <a:schemeClr val="tx2"/>
              </a:solidFill>
            </a:endParaRPr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8983C97F-79D0-629E-7653-C33B32FBC4BF}"/>
              </a:ext>
            </a:extLst>
          </p:cNvPr>
          <p:cNvSpPr/>
          <p:nvPr/>
        </p:nvSpPr>
        <p:spPr>
          <a:xfrm>
            <a:off x="905629" y="723127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1200" noProof="0" dirty="0"/>
              <a:t>Proceso de la rendición de gastos.</a:t>
            </a:r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986AEA3F-5507-86A2-2F69-2E95139DDCFB}"/>
              </a:ext>
            </a:extLst>
          </p:cNvPr>
          <p:cNvSpPr/>
          <p:nvPr/>
        </p:nvSpPr>
        <p:spPr>
          <a:xfrm>
            <a:off x="626364" y="1252728"/>
            <a:ext cx="8101584" cy="4426726"/>
          </a:xfrm>
          <a:prstGeom prst="roundRect">
            <a:avLst>
              <a:gd name="adj" fmla="val 1239"/>
            </a:avLst>
          </a:prstGeom>
          <a:solidFill>
            <a:srgbClr val="F4F6FC"/>
          </a:solidFill>
          <a:ln w="12700">
            <a:solidFill>
              <a:srgbClr val="E1E5F5"/>
            </a:solidFill>
            <a:prstDash val="solid"/>
          </a:ln>
          <a:effectLst>
            <a:outerShdw blurRad="101600" dist="38100" dir="5400000" algn="bl" rotWithShape="0">
              <a:srgbClr val="1B1F3B">
                <a:alpha val="15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4FC5B9E-4F6C-3CE1-1728-E15B8EB7C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78" y="1243084"/>
            <a:ext cx="8101584" cy="4426726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351F954C-9A16-0A71-EC14-E21300A942DD}"/>
              </a:ext>
            </a:extLst>
          </p:cNvPr>
          <p:cNvSpPr/>
          <p:nvPr/>
        </p:nvSpPr>
        <p:spPr>
          <a:xfrm>
            <a:off x="8942358" y="11658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crear una </a:t>
            </a:r>
            <a:r>
              <a:rPr lang="es-CL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rendición de gastos</a:t>
            </a:r>
            <a:r>
              <a:rPr lang="es-CL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s-CL" sz="1300" noProof="0" dirty="0"/>
          </a:p>
        </p:txBody>
      </p:sp>
      <p:sp>
        <p:nvSpPr>
          <p:cNvPr id="6" name="Text 15">
            <a:extLst>
              <a:ext uri="{FF2B5EF4-FFF2-40B4-BE49-F238E27FC236}">
                <a16:creationId xmlns:a16="http://schemas.microsoft.com/office/drawing/2014/main" id="{F7133D29-414C-D979-291D-C995AC51D9BA}"/>
              </a:ext>
            </a:extLst>
          </p:cNvPr>
          <p:cNvSpPr/>
          <p:nvPr/>
        </p:nvSpPr>
        <p:spPr>
          <a:xfrm>
            <a:off x="8945575" y="1567955"/>
            <a:ext cx="2440324" cy="5496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s-CL" sz="1100" noProof="0" dirty="0"/>
              <a:t>Seleccionar el botón [Crear]. Se abrirá la pantalla para ingresar la información de la rendición de gastos.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225ADD60-5785-2120-FCB8-6EF4964C2532}"/>
              </a:ext>
            </a:extLst>
          </p:cNvPr>
          <p:cNvSpPr/>
          <p:nvPr/>
        </p:nvSpPr>
        <p:spPr>
          <a:xfrm>
            <a:off x="676896" y="1913467"/>
            <a:ext cx="383568" cy="14393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</p:spTree>
    <p:extLst>
      <p:ext uri="{BB962C8B-B14F-4D97-AF65-F5344CB8AC3E}">
        <p14:creationId xmlns:p14="http://schemas.microsoft.com/office/powerpoint/2010/main" val="630304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1B0B5-AF96-04F6-515D-4D10E5925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6">
            <a:extLst>
              <a:ext uri="{FF2B5EF4-FFF2-40B4-BE49-F238E27FC236}">
                <a16:creationId xmlns:a16="http://schemas.microsoft.com/office/drawing/2014/main" id="{10DB59F9-3550-ED94-02E6-EF4A3CF45394}"/>
              </a:ext>
            </a:extLst>
          </p:cNvPr>
          <p:cNvSpPr/>
          <p:nvPr/>
        </p:nvSpPr>
        <p:spPr>
          <a:xfrm>
            <a:off x="9382678" y="1790279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i="1" noProof="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</a:t>
            </a:r>
            <a:endParaRPr lang="es-CL" sz="1200" i="1" noProof="0" dirty="0">
              <a:solidFill>
                <a:schemeClr val="tx2"/>
              </a:solidFill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BEC0AB9-B2E0-9836-44A9-8BA96D9C6ABA}"/>
              </a:ext>
            </a:extLst>
          </p:cNvPr>
          <p:cNvSpPr/>
          <p:nvPr/>
        </p:nvSpPr>
        <p:spPr>
          <a:xfrm>
            <a:off x="9382678" y="2007177"/>
            <a:ext cx="231343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lnSpc>
                <a:spcPct val="112000"/>
              </a:lnSpc>
              <a:buNone/>
            </a:pPr>
            <a:r>
              <a:rPr lang="es-CL" sz="1100" noProof="0" dirty="0"/>
              <a:t>Nombre del empleado.</a:t>
            </a:r>
            <a:endParaRPr lang="es-CL" sz="1100" i="1" noProof="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9B1F61B-2937-D61F-4855-D016DDB3BF0D}"/>
              </a:ext>
            </a:extLst>
          </p:cNvPr>
          <p:cNvSpPr/>
          <p:nvPr/>
        </p:nvSpPr>
        <p:spPr>
          <a:xfrm>
            <a:off x="9401499" y="2684956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30" b="1" i="1" noProof="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s-CL" sz="1130" i="1" noProof="0" dirty="0">
              <a:solidFill>
                <a:schemeClr val="tx2"/>
              </a:solidFill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3DBECD06-F894-D738-BE40-236E33A1F5F1}"/>
              </a:ext>
            </a:extLst>
          </p:cNvPr>
          <p:cNvSpPr/>
          <p:nvPr/>
        </p:nvSpPr>
        <p:spPr>
          <a:xfrm>
            <a:off x="9421063" y="2817243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s-CL" sz="1100" noProof="0" dirty="0"/>
              <a:t>Fecha de creación de la</a:t>
            </a:r>
            <a:r>
              <a:rPr lang="es-CL" sz="1100" dirty="0"/>
              <a:t> rendición de gastos</a:t>
            </a:r>
            <a:endParaRPr lang="es-CL" sz="1100" noProof="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9016D48F-707C-CD27-FDBE-261275704973}"/>
              </a:ext>
            </a:extLst>
          </p:cNvPr>
          <p:cNvSpPr/>
          <p:nvPr/>
        </p:nvSpPr>
        <p:spPr>
          <a:xfrm>
            <a:off x="9455554" y="3393989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30" b="1" i="1" noProof="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</a:t>
            </a:r>
            <a:endParaRPr lang="es-CL" sz="1130" i="1" noProof="0" dirty="0">
              <a:solidFill>
                <a:schemeClr val="tx2"/>
              </a:solidFill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C0B83E1-B96C-A852-29DD-EE307B9EA22E}"/>
              </a:ext>
            </a:extLst>
          </p:cNvPr>
          <p:cNvSpPr/>
          <p:nvPr/>
        </p:nvSpPr>
        <p:spPr>
          <a:xfrm>
            <a:off x="9446783" y="368695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s-CL" sz="1100" noProof="0" dirty="0"/>
              <a:t>Ingresar el código del producto. Agregar uno o más con el botón [Añadir].</a:t>
            </a: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996C34E7-88CD-C892-1231-2BE92E1C3A34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9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1C · Rendición de gastos</a:t>
            </a:r>
            <a:endParaRPr lang="es-CL" sz="900" dirty="0"/>
          </a:p>
        </p:txBody>
      </p:sp>
      <p:sp>
        <p:nvSpPr>
          <p:cNvPr id="19" name="Text 36">
            <a:extLst>
              <a:ext uri="{FF2B5EF4-FFF2-40B4-BE49-F238E27FC236}">
                <a16:creationId xmlns:a16="http://schemas.microsoft.com/office/drawing/2014/main" id="{878DC970-C876-3DFA-C36C-E5A486A4C317}"/>
              </a:ext>
            </a:extLst>
          </p:cNvPr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900" noProof="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s-CL" sz="900" noProof="0" dirty="0"/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B4255375-7543-54C8-8CF2-2A352ED34CDB}"/>
              </a:ext>
            </a:extLst>
          </p:cNvPr>
          <p:cNvSpPr/>
          <p:nvPr/>
        </p:nvSpPr>
        <p:spPr>
          <a:xfrm>
            <a:off x="868680" y="306565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2400" b="1" noProof="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Reclamaciones de gastos</a:t>
            </a:r>
            <a:endParaRPr lang="es-CL" sz="2400" noProof="0" dirty="0">
              <a:solidFill>
                <a:schemeClr val="tx2"/>
              </a:solidFill>
            </a:endParaRPr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DE9323E9-6C09-7B99-55C7-77A7D6D44C70}"/>
              </a:ext>
            </a:extLst>
          </p:cNvPr>
          <p:cNvSpPr/>
          <p:nvPr/>
        </p:nvSpPr>
        <p:spPr>
          <a:xfrm>
            <a:off x="905629" y="723127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1200" noProof="0" dirty="0"/>
              <a:t>Qué ingresar en </a:t>
            </a:r>
            <a:r>
              <a:rPr lang="es-CL" sz="1200" dirty="0"/>
              <a:t>el documento de </a:t>
            </a:r>
            <a:r>
              <a:rPr lang="es-CL" sz="1200" noProof="0" dirty="0"/>
              <a:t>rendición de gastos.</a:t>
            </a:r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8F0636AC-18D2-25C9-E67C-78F6F30C77EB}"/>
              </a:ext>
            </a:extLst>
          </p:cNvPr>
          <p:cNvSpPr/>
          <p:nvPr/>
        </p:nvSpPr>
        <p:spPr>
          <a:xfrm>
            <a:off x="626364" y="1252728"/>
            <a:ext cx="8101584" cy="4426726"/>
          </a:xfrm>
          <a:prstGeom prst="roundRect">
            <a:avLst>
              <a:gd name="adj" fmla="val 1239"/>
            </a:avLst>
          </a:prstGeom>
          <a:solidFill>
            <a:srgbClr val="F4F6FC"/>
          </a:solidFill>
          <a:ln w="12700">
            <a:solidFill>
              <a:srgbClr val="E1E5F5"/>
            </a:solidFill>
            <a:prstDash val="solid"/>
          </a:ln>
          <a:effectLst>
            <a:outerShdw blurRad="101600" dist="38100" dir="5400000" algn="bl" rotWithShape="0">
              <a:srgbClr val="1B1F3B">
                <a:alpha val="15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C9E8C7DA-E11E-4CB4-EA3E-F9F89C5DB9BC}"/>
              </a:ext>
            </a:extLst>
          </p:cNvPr>
          <p:cNvSpPr/>
          <p:nvPr/>
        </p:nvSpPr>
        <p:spPr>
          <a:xfrm>
            <a:off x="8942358" y="11658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noProof="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a completar:</a:t>
            </a:r>
            <a:endParaRPr lang="es-CL" sz="1300" noProof="0" dirty="0">
              <a:solidFill>
                <a:schemeClr val="tx2"/>
              </a:solidFill>
            </a:endParaRPr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52E83780-1A0D-36BA-83FD-7E6295809084}"/>
              </a:ext>
            </a:extLst>
          </p:cNvPr>
          <p:cNvSpPr/>
          <p:nvPr/>
        </p:nvSpPr>
        <p:spPr>
          <a:xfrm>
            <a:off x="8942358" y="1735415"/>
            <a:ext cx="347472" cy="347472"/>
          </a:xfrm>
          <a:prstGeom prst="ellipse">
            <a:avLst/>
          </a:prstGeom>
          <a:solidFill>
            <a:srgbClr val="FEE10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8" name="Shape 4">
            <a:extLst>
              <a:ext uri="{FF2B5EF4-FFF2-40B4-BE49-F238E27FC236}">
                <a16:creationId xmlns:a16="http://schemas.microsoft.com/office/drawing/2014/main" id="{DA4E6331-D729-77BB-6664-88DE99BDF0FA}"/>
              </a:ext>
            </a:extLst>
          </p:cNvPr>
          <p:cNvSpPr/>
          <p:nvPr/>
        </p:nvSpPr>
        <p:spPr>
          <a:xfrm>
            <a:off x="8946244" y="2632811"/>
            <a:ext cx="347472" cy="347472"/>
          </a:xfrm>
          <a:prstGeom prst="ellipse">
            <a:avLst/>
          </a:prstGeom>
          <a:solidFill>
            <a:srgbClr val="FEE10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3A24525B-A518-7CBA-702E-9AED6444FDCB}"/>
              </a:ext>
            </a:extLst>
          </p:cNvPr>
          <p:cNvSpPr/>
          <p:nvPr/>
        </p:nvSpPr>
        <p:spPr>
          <a:xfrm>
            <a:off x="8953104" y="173541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CL" sz="1300" noProof="0" dirty="0"/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581AFB18-DBE1-EECA-DEB1-11E275A7D7C2}"/>
              </a:ext>
            </a:extLst>
          </p:cNvPr>
          <p:cNvSpPr/>
          <p:nvPr/>
        </p:nvSpPr>
        <p:spPr>
          <a:xfrm>
            <a:off x="8942358" y="263281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CL" sz="1300" noProof="0" dirty="0"/>
          </a:p>
        </p:txBody>
      </p:sp>
      <p:sp>
        <p:nvSpPr>
          <p:cNvPr id="46" name="Shape 4">
            <a:extLst>
              <a:ext uri="{FF2B5EF4-FFF2-40B4-BE49-F238E27FC236}">
                <a16:creationId xmlns:a16="http://schemas.microsoft.com/office/drawing/2014/main" id="{077829BA-D497-B648-210C-9DCA0AA5D351}"/>
              </a:ext>
            </a:extLst>
          </p:cNvPr>
          <p:cNvSpPr/>
          <p:nvPr/>
        </p:nvSpPr>
        <p:spPr>
          <a:xfrm>
            <a:off x="8953104" y="3352331"/>
            <a:ext cx="347472" cy="347472"/>
          </a:xfrm>
          <a:prstGeom prst="ellipse">
            <a:avLst/>
          </a:prstGeom>
          <a:solidFill>
            <a:srgbClr val="FEE10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3024FEB4-4051-478D-7FDE-6778586C496C}"/>
              </a:ext>
            </a:extLst>
          </p:cNvPr>
          <p:cNvSpPr/>
          <p:nvPr/>
        </p:nvSpPr>
        <p:spPr>
          <a:xfrm>
            <a:off x="8953104" y="333947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CL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CL" sz="1300" noProof="0" dirty="0"/>
          </a:p>
        </p:txBody>
      </p:sp>
      <p:sp>
        <p:nvSpPr>
          <p:cNvPr id="50" name="Shape 4">
            <a:extLst>
              <a:ext uri="{FF2B5EF4-FFF2-40B4-BE49-F238E27FC236}">
                <a16:creationId xmlns:a16="http://schemas.microsoft.com/office/drawing/2014/main" id="{CC3E95E6-B362-3A1A-8C5E-1CC670370A13}"/>
              </a:ext>
            </a:extLst>
          </p:cNvPr>
          <p:cNvSpPr/>
          <p:nvPr/>
        </p:nvSpPr>
        <p:spPr>
          <a:xfrm>
            <a:off x="8942358" y="4293483"/>
            <a:ext cx="347472" cy="347472"/>
          </a:xfrm>
          <a:prstGeom prst="ellipse">
            <a:avLst/>
          </a:prstGeom>
          <a:solidFill>
            <a:srgbClr val="FEE10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54" name="Text 13">
            <a:extLst>
              <a:ext uri="{FF2B5EF4-FFF2-40B4-BE49-F238E27FC236}">
                <a16:creationId xmlns:a16="http://schemas.microsoft.com/office/drawing/2014/main" id="{E4BFCD89-4FD9-F37A-729A-FFF51D35252D}"/>
              </a:ext>
            </a:extLst>
          </p:cNvPr>
          <p:cNvSpPr/>
          <p:nvPr/>
        </p:nvSpPr>
        <p:spPr>
          <a:xfrm>
            <a:off x="8953104" y="43005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CL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CL" sz="1300" noProof="0" dirty="0"/>
          </a:p>
        </p:txBody>
      </p:sp>
      <p:sp>
        <p:nvSpPr>
          <p:cNvPr id="56" name="Text 14">
            <a:extLst>
              <a:ext uri="{FF2B5EF4-FFF2-40B4-BE49-F238E27FC236}">
                <a16:creationId xmlns:a16="http://schemas.microsoft.com/office/drawing/2014/main" id="{233094B4-9929-6E2B-DAE9-594FDD9E5F67}"/>
              </a:ext>
            </a:extLst>
          </p:cNvPr>
          <p:cNvSpPr/>
          <p:nvPr/>
        </p:nvSpPr>
        <p:spPr>
          <a:xfrm>
            <a:off x="9421063" y="4348347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30" b="1" i="1" noProof="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Compañía </a:t>
            </a:r>
            <a:endParaRPr lang="es-CL" sz="1130" i="1" noProof="0" dirty="0">
              <a:solidFill>
                <a:schemeClr val="tx2"/>
              </a:solidFill>
            </a:endParaRPr>
          </a:p>
        </p:txBody>
      </p:sp>
      <p:sp>
        <p:nvSpPr>
          <p:cNvPr id="60" name="Text 11">
            <a:extLst>
              <a:ext uri="{FF2B5EF4-FFF2-40B4-BE49-F238E27FC236}">
                <a16:creationId xmlns:a16="http://schemas.microsoft.com/office/drawing/2014/main" id="{9474F706-F4EF-C784-A346-2FDA4B7DB25E}"/>
              </a:ext>
            </a:extLst>
          </p:cNvPr>
          <p:cNvSpPr/>
          <p:nvPr/>
        </p:nvSpPr>
        <p:spPr>
          <a:xfrm>
            <a:off x="9417845" y="4663629"/>
            <a:ext cx="2316650" cy="569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s-CL" sz="1100" noProof="0" dirty="0"/>
              <a:t>Nombre de la empresa que realiza la rendición de gastos.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05D3E2C-1079-32F0-C94C-AF95EC296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" y="1252728"/>
            <a:ext cx="8097698" cy="4417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909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C94C9-DDE4-2128-5E33-9C6E6D67E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6">
            <a:extLst>
              <a:ext uri="{FF2B5EF4-FFF2-40B4-BE49-F238E27FC236}">
                <a16:creationId xmlns:a16="http://schemas.microsoft.com/office/drawing/2014/main" id="{2DAE9DB9-023A-24DB-8765-69F0113202BD}"/>
              </a:ext>
            </a:extLst>
          </p:cNvPr>
          <p:cNvSpPr/>
          <p:nvPr/>
        </p:nvSpPr>
        <p:spPr>
          <a:xfrm>
            <a:off x="9382678" y="1790279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Proyecto/Fase del proyecto</a:t>
            </a:r>
            <a:endParaRPr lang="es-CL" sz="1200" i="1" noProof="0" dirty="0">
              <a:solidFill>
                <a:schemeClr val="tx2"/>
              </a:solidFill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2FD4D0D-78C5-6264-1DAA-36F553D1165D}"/>
              </a:ext>
            </a:extLst>
          </p:cNvPr>
          <p:cNvSpPr/>
          <p:nvPr/>
        </p:nvSpPr>
        <p:spPr>
          <a:xfrm>
            <a:off x="9382678" y="2007177"/>
            <a:ext cx="231343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lnSpc>
                <a:spcPct val="112000"/>
              </a:lnSpc>
              <a:buNone/>
            </a:pPr>
            <a:r>
              <a:rPr lang="es-CL" sz="1100" dirty="0"/>
              <a:t>Nombre del c</a:t>
            </a:r>
            <a:r>
              <a:rPr lang="es-CL" sz="1100" noProof="0" dirty="0"/>
              <a:t>entro de costo asociado.</a:t>
            </a:r>
            <a:endParaRPr lang="es-CL" sz="1100" i="1" noProof="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58812C12-BF94-7B54-5A8F-45CFD1CB5FFF}"/>
              </a:ext>
            </a:extLst>
          </p:cNvPr>
          <p:cNvSpPr/>
          <p:nvPr/>
        </p:nvSpPr>
        <p:spPr>
          <a:xfrm>
            <a:off x="9401499" y="2684956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30" b="1" i="1" noProof="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s-CL" sz="1130" i="1" noProof="0" dirty="0">
              <a:solidFill>
                <a:schemeClr val="tx2"/>
              </a:solidFill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A487230F-A8B1-8FF5-E0C0-FA9675D31D77}"/>
              </a:ext>
            </a:extLst>
          </p:cNvPr>
          <p:cNvSpPr/>
          <p:nvPr/>
        </p:nvSpPr>
        <p:spPr>
          <a:xfrm>
            <a:off x="9421063" y="2817243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s-CL" sz="1100" noProof="0" dirty="0"/>
              <a:t>Fecha de creación de la rendición de gastos.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3F8CF750-D213-DA54-27B4-13CBA2389412}"/>
              </a:ext>
            </a:extLst>
          </p:cNvPr>
          <p:cNvSpPr/>
          <p:nvPr/>
        </p:nvSpPr>
        <p:spPr>
          <a:xfrm>
            <a:off x="9455554" y="3393989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30" b="1" i="1" noProof="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</a:t>
            </a:r>
            <a:endParaRPr lang="es-CL" sz="1130" i="1" noProof="0" dirty="0">
              <a:solidFill>
                <a:schemeClr val="tx2"/>
              </a:solidFill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E37A04BD-E57D-E82E-6640-3A12AC2A5E60}"/>
              </a:ext>
            </a:extLst>
          </p:cNvPr>
          <p:cNvSpPr/>
          <p:nvPr/>
        </p:nvSpPr>
        <p:spPr>
          <a:xfrm>
            <a:off x="9446783" y="368695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s-CL" sz="1100" dirty="0"/>
              <a:t>Información adicional sobre la rendición de gastos.</a:t>
            </a:r>
            <a:endParaRPr lang="es-CL" sz="1100" noProof="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21A227EA-2496-D2F0-BD24-D4D87D14429F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9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1C · Rendición de gastos</a:t>
            </a:r>
            <a:endParaRPr lang="es-CL" sz="900" dirty="0"/>
          </a:p>
        </p:txBody>
      </p:sp>
      <p:sp>
        <p:nvSpPr>
          <p:cNvPr id="32" name="Text 18">
            <a:extLst>
              <a:ext uri="{FF2B5EF4-FFF2-40B4-BE49-F238E27FC236}">
                <a16:creationId xmlns:a16="http://schemas.microsoft.com/office/drawing/2014/main" id="{892C70F5-01A6-47BB-BADA-18D932CAD137}"/>
              </a:ext>
            </a:extLst>
          </p:cNvPr>
          <p:cNvSpPr/>
          <p:nvPr/>
        </p:nvSpPr>
        <p:spPr>
          <a:xfrm>
            <a:off x="9119980" y="5301021"/>
            <a:ext cx="2698444" cy="793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1100" dirty="0"/>
              <a:t>Seleccionar [Validar y cerrar] y </a:t>
            </a:r>
            <a:r>
              <a:rPr lang="es-CL" sz="1100" noProof="0" dirty="0"/>
              <a:t>Continuamos con el pago de esta rendición de gastos.</a:t>
            </a:r>
          </a:p>
        </p:txBody>
      </p:sp>
      <p:sp>
        <p:nvSpPr>
          <p:cNvPr id="19" name="Text 36">
            <a:extLst>
              <a:ext uri="{FF2B5EF4-FFF2-40B4-BE49-F238E27FC236}">
                <a16:creationId xmlns:a16="http://schemas.microsoft.com/office/drawing/2014/main" id="{D301A620-E819-784B-1DDD-C2E959F23D28}"/>
              </a:ext>
            </a:extLst>
          </p:cNvPr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900" noProof="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s-CL" sz="900" noProof="0" dirty="0"/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B6E1AF1D-FE35-D159-A66B-0FCF58DB2E8C}"/>
              </a:ext>
            </a:extLst>
          </p:cNvPr>
          <p:cNvSpPr/>
          <p:nvPr/>
        </p:nvSpPr>
        <p:spPr>
          <a:xfrm>
            <a:off x="868680" y="306565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2400" b="1" noProof="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Reclamaciones de gastos</a:t>
            </a:r>
            <a:endParaRPr lang="es-CL" sz="2400" noProof="0" dirty="0">
              <a:solidFill>
                <a:schemeClr val="tx2"/>
              </a:solidFill>
            </a:endParaRPr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46C30ADD-F48D-3A31-783D-00DDDE55C3A8}"/>
              </a:ext>
            </a:extLst>
          </p:cNvPr>
          <p:cNvSpPr/>
          <p:nvPr/>
        </p:nvSpPr>
        <p:spPr>
          <a:xfrm>
            <a:off x="905629" y="723127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1200" noProof="0" dirty="0"/>
              <a:t>Qué ingresar en la información adicional.</a:t>
            </a:r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4B42E16B-D810-3BFE-236A-A33BB412BF8C}"/>
              </a:ext>
            </a:extLst>
          </p:cNvPr>
          <p:cNvSpPr/>
          <p:nvPr/>
        </p:nvSpPr>
        <p:spPr>
          <a:xfrm>
            <a:off x="626364" y="1252728"/>
            <a:ext cx="8101584" cy="4426726"/>
          </a:xfrm>
          <a:prstGeom prst="roundRect">
            <a:avLst>
              <a:gd name="adj" fmla="val 1239"/>
            </a:avLst>
          </a:prstGeom>
          <a:solidFill>
            <a:srgbClr val="F4F6FC"/>
          </a:solidFill>
          <a:ln w="12700">
            <a:solidFill>
              <a:srgbClr val="E1E5F5"/>
            </a:solidFill>
            <a:prstDash val="solid"/>
          </a:ln>
          <a:effectLst>
            <a:outerShdw blurRad="101600" dist="38100" dir="5400000" algn="bl" rotWithShape="0">
              <a:srgbClr val="1B1F3B">
                <a:alpha val="15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6357FD46-BE4B-85C7-FA1F-E9424DED8F02}"/>
              </a:ext>
            </a:extLst>
          </p:cNvPr>
          <p:cNvSpPr/>
          <p:nvPr/>
        </p:nvSpPr>
        <p:spPr>
          <a:xfrm>
            <a:off x="8942358" y="11658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noProof="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a completar:</a:t>
            </a:r>
            <a:endParaRPr lang="es-CL" sz="1300" noProof="0" dirty="0">
              <a:solidFill>
                <a:schemeClr val="tx2"/>
              </a:solidFill>
            </a:endParaRPr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E9A019B2-83D6-D7B3-DFDD-D0A88945A4A2}"/>
              </a:ext>
            </a:extLst>
          </p:cNvPr>
          <p:cNvSpPr/>
          <p:nvPr/>
        </p:nvSpPr>
        <p:spPr>
          <a:xfrm>
            <a:off x="8942358" y="1735415"/>
            <a:ext cx="347472" cy="347472"/>
          </a:xfrm>
          <a:prstGeom prst="ellipse">
            <a:avLst/>
          </a:prstGeom>
          <a:solidFill>
            <a:srgbClr val="FEE10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8" name="Shape 4">
            <a:extLst>
              <a:ext uri="{FF2B5EF4-FFF2-40B4-BE49-F238E27FC236}">
                <a16:creationId xmlns:a16="http://schemas.microsoft.com/office/drawing/2014/main" id="{6870DA3B-717B-05E7-B508-3A53C76CE3B4}"/>
              </a:ext>
            </a:extLst>
          </p:cNvPr>
          <p:cNvSpPr/>
          <p:nvPr/>
        </p:nvSpPr>
        <p:spPr>
          <a:xfrm>
            <a:off x="8946244" y="2632811"/>
            <a:ext cx="347472" cy="347472"/>
          </a:xfrm>
          <a:prstGeom prst="ellipse">
            <a:avLst/>
          </a:prstGeom>
          <a:solidFill>
            <a:srgbClr val="FEE10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0A98A42A-F77C-8699-3D1C-8BC3CF48C166}"/>
              </a:ext>
            </a:extLst>
          </p:cNvPr>
          <p:cNvSpPr/>
          <p:nvPr/>
        </p:nvSpPr>
        <p:spPr>
          <a:xfrm>
            <a:off x="8953104" y="173541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CL" sz="1300" noProof="0" dirty="0"/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8281ACEF-7E33-7CE4-436B-DFDE96F4AC6B}"/>
              </a:ext>
            </a:extLst>
          </p:cNvPr>
          <p:cNvSpPr/>
          <p:nvPr/>
        </p:nvSpPr>
        <p:spPr>
          <a:xfrm>
            <a:off x="8942358" y="263281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CL" sz="1300" noProof="0" dirty="0"/>
          </a:p>
        </p:txBody>
      </p:sp>
      <p:sp>
        <p:nvSpPr>
          <p:cNvPr id="46" name="Shape 4">
            <a:extLst>
              <a:ext uri="{FF2B5EF4-FFF2-40B4-BE49-F238E27FC236}">
                <a16:creationId xmlns:a16="http://schemas.microsoft.com/office/drawing/2014/main" id="{C03B9F00-74C8-9358-650E-4BABDA862928}"/>
              </a:ext>
            </a:extLst>
          </p:cNvPr>
          <p:cNvSpPr/>
          <p:nvPr/>
        </p:nvSpPr>
        <p:spPr>
          <a:xfrm>
            <a:off x="8953104" y="3352331"/>
            <a:ext cx="347472" cy="347472"/>
          </a:xfrm>
          <a:prstGeom prst="ellipse">
            <a:avLst/>
          </a:prstGeom>
          <a:solidFill>
            <a:srgbClr val="FEE10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9573D0F8-1A21-5E50-6E76-BE738B91C56C}"/>
              </a:ext>
            </a:extLst>
          </p:cNvPr>
          <p:cNvSpPr/>
          <p:nvPr/>
        </p:nvSpPr>
        <p:spPr>
          <a:xfrm>
            <a:off x="8953104" y="333947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CL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CL" sz="1300" noProof="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4AC10AE-4917-A179-E51F-85B154D94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78" y="1254428"/>
            <a:ext cx="8112330" cy="441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858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CBD0A-0F88-7EAA-0092-977F5B481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20">
            <a:extLst>
              <a:ext uri="{FF2B5EF4-FFF2-40B4-BE49-F238E27FC236}">
                <a16:creationId xmlns:a16="http://schemas.microsoft.com/office/drawing/2014/main" id="{9ACE40ED-8944-5012-5981-9E0052D30F29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9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1C · Rendición de gastos</a:t>
            </a:r>
            <a:endParaRPr lang="es-CL" sz="900" dirty="0"/>
          </a:p>
        </p:txBody>
      </p:sp>
      <p:sp>
        <p:nvSpPr>
          <p:cNvPr id="19" name="Text 36">
            <a:extLst>
              <a:ext uri="{FF2B5EF4-FFF2-40B4-BE49-F238E27FC236}">
                <a16:creationId xmlns:a16="http://schemas.microsoft.com/office/drawing/2014/main" id="{B12FA2FF-9419-2423-E88B-003B0BA25256}"/>
              </a:ext>
            </a:extLst>
          </p:cNvPr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900" noProof="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s-CL" sz="900" noProof="0" dirty="0"/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6E6CDFE1-A3E8-4216-A418-39EAA313B5F5}"/>
              </a:ext>
            </a:extLst>
          </p:cNvPr>
          <p:cNvSpPr/>
          <p:nvPr/>
        </p:nvSpPr>
        <p:spPr>
          <a:xfrm>
            <a:off x="868680" y="306565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2400" b="1" noProof="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Pagar la rendición de gastos</a:t>
            </a:r>
            <a:endParaRPr lang="es-CL" sz="2400" noProof="0" dirty="0">
              <a:solidFill>
                <a:schemeClr val="tx2"/>
              </a:solidFill>
            </a:endParaRPr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DCFC03B8-54ED-AAD6-0DD5-D25C0C66F8C7}"/>
              </a:ext>
            </a:extLst>
          </p:cNvPr>
          <p:cNvSpPr/>
          <p:nvPr/>
        </p:nvSpPr>
        <p:spPr>
          <a:xfrm>
            <a:off x="905629" y="723127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s-CL" sz="1200" noProof="0" dirty="0"/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406814F7-9776-4E1E-ECDF-EAE4BA2A3756}"/>
              </a:ext>
            </a:extLst>
          </p:cNvPr>
          <p:cNvSpPr/>
          <p:nvPr/>
        </p:nvSpPr>
        <p:spPr>
          <a:xfrm>
            <a:off x="626364" y="1252728"/>
            <a:ext cx="8101584" cy="4426726"/>
          </a:xfrm>
          <a:prstGeom prst="roundRect">
            <a:avLst>
              <a:gd name="adj" fmla="val 1239"/>
            </a:avLst>
          </a:prstGeom>
          <a:solidFill>
            <a:srgbClr val="F4F6FC"/>
          </a:solidFill>
          <a:ln w="12700">
            <a:solidFill>
              <a:srgbClr val="E1E5F5"/>
            </a:solidFill>
            <a:prstDash val="solid"/>
          </a:ln>
          <a:effectLst>
            <a:outerShdw blurRad="101600" dist="38100" dir="5400000" algn="bl" rotWithShape="0">
              <a:srgbClr val="1B1F3B">
                <a:alpha val="15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7D54908B-9A2C-4C11-9EB9-4EB59602F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77" y="1252729"/>
            <a:ext cx="8101583" cy="4426438"/>
          </a:xfrm>
          <a:prstGeom prst="rect">
            <a:avLst/>
          </a:prstGeom>
        </p:spPr>
      </p:pic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2A637BD3-B065-D076-DEE2-DCB0873F1D1F}"/>
              </a:ext>
            </a:extLst>
          </p:cNvPr>
          <p:cNvSpPr/>
          <p:nvPr/>
        </p:nvSpPr>
        <p:spPr>
          <a:xfrm>
            <a:off x="713845" y="2541023"/>
            <a:ext cx="742422" cy="14393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7475229B-5F6C-B6E4-97AE-FE71E8535F60}"/>
              </a:ext>
            </a:extLst>
          </p:cNvPr>
          <p:cNvSpPr/>
          <p:nvPr/>
        </p:nvSpPr>
        <p:spPr>
          <a:xfrm>
            <a:off x="8942358" y="11658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pagar una rendición de gastos?</a:t>
            </a:r>
            <a:endParaRPr lang="es-CL" sz="1300" noProof="0" dirty="0"/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29E3D831-E2A7-EE5D-3117-8AF81C70D7E2}"/>
              </a:ext>
            </a:extLst>
          </p:cNvPr>
          <p:cNvSpPr/>
          <p:nvPr/>
        </p:nvSpPr>
        <p:spPr>
          <a:xfrm>
            <a:off x="8945575" y="1567955"/>
            <a:ext cx="2440324" cy="5496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s-CL" sz="1100" noProof="0" dirty="0"/>
              <a:t>Seleccionar el módulo Gestión de efectivo y, luego, el submódulo Pagos bancarios.</a:t>
            </a:r>
          </a:p>
        </p:txBody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9012D2B1-BA7B-89BD-C118-3244B6A6EE65}"/>
              </a:ext>
            </a:extLst>
          </p:cNvPr>
          <p:cNvSpPr/>
          <p:nvPr/>
        </p:nvSpPr>
        <p:spPr>
          <a:xfrm>
            <a:off x="905629" y="723127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1200" dirty="0"/>
              <a:t>Proceso de pago de las rendiciones de gastos.</a:t>
            </a:r>
          </a:p>
        </p:txBody>
      </p:sp>
    </p:spTree>
    <p:extLst>
      <p:ext uri="{BB962C8B-B14F-4D97-AF65-F5344CB8AC3E}">
        <p14:creationId xmlns:p14="http://schemas.microsoft.com/office/powerpoint/2010/main" val="1931157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7D45C-60EF-5F0F-A44A-9E4413A66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20">
            <a:extLst>
              <a:ext uri="{FF2B5EF4-FFF2-40B4-BE49-F238E27FC236}">
                <a16:creationId xmlns:a16="http://schemas.microsoft.com/office/drawing/2014/main" id="{8AF137F5-D97B-B634-1055-05422550C747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9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1C · Rendición de gastos</a:t>
            </a:r>
            <a:endParaRPr lang="es-CL" sz="900" dirty="0"/>
          </a:p>
        </p:txBody>
      </p:sp>
      <p:sp>
        <p:nvSpPr>
          <p:cNvPr id="19" name="Text 36">
            <a:extLst>
              <a:ext uri="{FF2B5EF4-FFF2-40B4-BE49-F238E27FC236}">
                <a16:creationId xmlns:a16="http://schemas.microsoft.com/office/drawing/2014/main" id="{62A24E61-2097-8142-0F95-AB4603C4C4EE}"/>
              </a:ext>
            </a:extLst>
          </p:cNvPr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900" noProof="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s-CL" sz="900" noProof="0" dirty="0"/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3B877D05-FD23-AD4F-D135-66E96F9FE400}"/>
              </a:ext>
            </a:extLst>
          </p:cNvPr>
          <p:cNvSpPr/>
          <p:nvPr/>
        </p:nvSpPr>
        <p:spPr>
          <a:xfrm>
            <a:off x="868680" y="306565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2400" b="1" noProof="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Pagar la rendición de gastos</a:t>
            </a:r>
            <a:endParaRPr lang="es-CL" sz="2400" noProof="0" dirty="0">
              <a:solidFill>
                <a:schemeClr val="tx2"/>
              </a:solidFill>
            </a:endParaRPr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A51F84DA-C5D1-537D-BC4A-0E764892FA60}"/>
              </a:ext>
            </a:extLst>
          </p:cNvPr>
          <p:cNvSpPr/>
          <p:nvPr/>
        </p:nvSpPr>
        <p:spPr>
          <a:xfrm>
            <a:off x="905629" y="723127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s-CL" sz="1200" noProof="0" dirty="0"/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701804A1-28B3-B306-079C-7DE235833782}"/>
              </a:ext>
            </a:extLst>
          </p:cNvPr>
          <p:cNvSpPr/>
          <p:nvPr/>
        </p:nvSpPr>
        <p:spPr>
          <a:xfrm>
            <a:off x="626364" y="1252728"/>
            <a:ext cx="8101584" cy="4426726"/>
          </a:xfrm>
          <a:prstGeom prst="roundRect">
            <a:avLst>
              <a:gd name="adj" fmla="val 1239"/>
            </a:avLst>
          </a:prstGeom>
          <a:solidFill>
            <a:srgbClr val="F4F6FC"/>
          </a:solidFill>
          <a:ln w="12700">
            <a:solidFill>
              <a:srgbClr val="E1E5F5"/>
            </a:solidFill>
            <a:prstDash val="solid"/>
          </a:ln>
          <a:effectLst>
            <a:outerShdw blurRad="101600" dist="38100" dir="5400000" algn="bl" rotWithShape="0">
              <a:srgbClr val="1B1F3B">
                <a:alpha val="15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3BBE5BC9-F123-DCD7-6572-7740D56B4ABC}"/>
              </a:ext>
            </a:extLst>
          </p:cNvPr>
          <p:cNvSpPr/>
          <p:nvPr/>
        </p:nvSpPr>
        <p:spPr>
          <a:xfrm>
            <a:off x="8942358" y="11658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pagar una rendición de gastos?</a:t>
            </a:r>
            <a:endParaRPr lang="es-CL" sz="1300" noProof="0" dirty="0"/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013C9F21-BA0B-0BC2-9821-45B0E1A9E128}"/>
              </a:ext>
            </a:extLst>
          </p:cNvPr>
          <p:cNvSpPr/>
          <p:nvPr/>
        </p:nvSpPr>
        <p:spPr>
          <a:xfrm>
            <a:off x="905629" y="723174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1200" noProof="0" dirty="0"/>
              <a:t>Qué ingresar en el pago.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F4A93B3-563A-C00D-0799-18741281F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" y="1252729"/>
            <a:ext cx="8097696" cy="4426438"/>
          </a:xfrm>
          <a:prstGeom prst="rect">
            <a:avLst/>
          </a:prstGeo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E5C54F1A-392F-BA72-4D16-54B75B9A923F}"/>
              </a:ext>
            </a:extLst>
          </p:cNvPr>
          <p:cNvSpPr/>
          <p:nvPr/>
        </p:nvSpPr>
        <p:spPr>
          <a:xfrm>
            <a:off x="686818" y="1918099"/>
            <a:ext cx="371211" cy="139302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0" name="Text 15">
            <a:extLst>
              <a:ext uri="{FF2B5EF4-FFF2-40B4-BE49-F238E27FC236}">
                <a16:creationId xmlns:a16="http://schemas.microsoft.com/office/drawing/2014/main" id="{62D9E2F6-2678-BD97-4F12-1EE51DDA0421}"/>
              </a:ext>
            </a:extLst>
          </p:cNvPr>
          <p:cNvSpPr/>
          <p:nvPr/>
        </p:nvSpPr>
        <p:spPr>
          <a:xfrm>
            <a:off x="8945575" y="1567955"/>
            <a:ext cx="2440324" cy="5496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s-CL" sz="1100" noProof="0" dirty="0"/>
              <a:t>Seleccionar el botón [Crear], donde se desplegará un formulario para ingresar la información del pago.</a:t>
            </a:r>
          </a:p>
        </p:txBody>
      </p:sp>
    </p:spTree>
    <p:extLst>
      <p:ext uri="{BB962C8B-B14F-4D97-AF65-F5344CB8AC3E}">
        <p14:creationId xmlns:p14="http://schemas.microsoft.com/office/powerpoint/2010/main" val="2390309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F496F-695E-47B0-6033-0F9D727C4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20">
            <a:extLst>
              <a:ext uri="{FF2B5EF4-FFF2-40B4-BE49-F238E27FC236}">
                <a16:creationId xmlns:a16="http://schemas.microsoft.com/office/drawing/2014/main" id="{4C74B986-7823-0233-43D2-CC2936E64544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9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1C · Rendición de gastos</a:t>
            </a:r>
            <a:endParaRPr lang="es-CL" sz="900" dirty="0"/>
          </a:p>
        </p:txBody>
      </p:sp>
      <p:sp>
        <p:nvSpPr>
          <p:cNvPr id="19" name="Text 36">
            <a:extLst>
              <a:ext uri="{FF2B5EF4-FFF2-40B4-BE49-F238E27FC236}">
                <a16:creationId xmlns:a16="http://schemas.microsoft.com/office/drawing/2014/main" id="{0F8A37CD-ACD8-9E23-F056-B2CC60598272}"/>
              </a:ext>
            </a:extLst>
          </p:cNvPr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900" noProof="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s-CL" sz="900" noProof="0" dirty="0"/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8C737EE3-8E1F-C10F-67A2-B37430CD393F}"/>
              </a:ext>
            </a:extLst>
          </p:cNvPr>
          <p:cNvSpPr/>
          <p:nvPr/>
        </p:nvSpPr>
        <p:spPr>
          <a:xfrm>
            <a:off x="868680" y="306565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2400" b="1" noProof="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Pagar la rendición de gastos</a:t>
            </a:r>
            <a:endParaRPr lang="es-CL" sz="2400" noProof="0" dirty="0">
              <a:solidFill>
                <a:schemeClr val="tx2"/>
              </a:solidFill>
            </a:endParaRPr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4CC7F871-AD2D-37D5-F3CC-20A9EC1F4486}"/>
              </a:ext>
            </a:extLst>
          </p:cNvPr>
          <p:cNvSpPr/>
          <p:nvPr/>
        </p:nvSpPr>
        <p:spPr>
          <a:xfrm>
            <a:off x="905629" y="723127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s-CL" sz="1200" noProof="0" dirty="0"/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62FBC34F-8E69-FAAB-76EA-74892179CBE2}"/>
              </a:ext>
            </a:extLst>
          </p:cNvPr>
          <p:cNvSpPr/>
          <p:nvPr/>
        </p:nvSpPr>
        <p:spPr>
          <a:xfrm>
            <a:off x="626364" y="1252728"/>
            <a:ext cx="8101584" cy="4426726"/>
          </a:xfrm>
          <a:prstGeom prst="roundRect">
            <a:avLst>
              <a:gd name="adj" fmla="val 1239"/>
            </a:avLst>
          </a:prstGeom>
          <a:solidFill>
            <a:srgbClr val="F4F6FC"/>
          </a:solidFill>
          <a:ln w="12700">
            <a:solidFill>
              <a:srgbClr val="E1E5F5"/>
            </a:solidFill>
            <a:prstDash val="solid"/>
          </a:ln>
          <a:effectLst>
            <a:outerShdw blurRad="101600" dist="38100" dir="5400000" algn="bl" rotWithShape="0">
              <a:srgbClr val="1B1F3B">
                <a:alpha val="15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B42D82EB-977C-41C7-D6DA-8BC8CCBDD7D8}"/>
              </a:ext>
            </a:extLst>
          </p:cNvPr>
          <p:cNvSpPr/>
          <p:nvPr/>
        </p:nvSpPr>
        <p:spPr>
          <a:xfrm>
            <a:off x="8942358" y="11658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a completar:</a:t>
            </a:r>
            <a:endParaRPr lang="es-CL" sz="1300" noProof="0" dirty="0"/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469ACDBD-F855-1343-9899-66F023BE59D9}"/>
              </a:ext>
            </a:extLst>
          </p:cNvPr>
          <p:cNvSpPr/>
          <p:nvPr/>
        </p:nvSpPr>
        <p:spPr>
          <a:xfrm>
            <a:off x="905629" y="723174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1200" noProof="0" dirty="0"/>
              <a:t>Qué ingresar en el pago.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773F1F2-7273-2802-3CB0-D5EE32001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75" y="1252441"/>
            <a:ext cx="8097695" cy="4426439"/>
          </a:xfrm>
          <a:prstGeom prst="rect">
            <a:avLst/>
          </a:prstGeom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6F7D75AA-19A7-C478-7CEA-0D93D3124EE6}"/>
              </a:ext>
            </a:extLst>
          </p:cNvPr>
          <p:cNvSpPr/>
          <p:nvPr/>
        </p:nvSpPr>
        <p:spPr>
          <a:xfrm>
            <a:off x="683074" y="3221966"/>
            <a:ext cx="2932193" cy="130834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48746AB7-CCAE-8709-0211-03E442BFBC93}"/>
              </a:ext>
            </a:extLst>
          </p:cNvPr>
          <p:cNvSpPr/>
          <p:nvPr/>
        </p:nvSpPr>
        <p:spPr>
          <a:xfrm>
            <a:off x="9382678" y="1790279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i="1" noProof="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Titular del anticipo</a:t>
            </a:r>
            <a:endParaRPr lang="es-CL" sz="1200" i="1" noProof="0" dirty="0">
              <a:solidFill>
                <a:schemeClr val="tx2"/>
              </a:solidFill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976F79A4-9A87-1AA7-3816-D1B8E64AAF0B}"/>
              </a:ext>
            </a:extLst>
          </p:cNvPr>
          <p:cNvSpPr/>
          <p:nvPr/>
        </p:nvSpPr>
        <p:spPr>
          <a:xfrm>
            <a:off x="9382678" y="2007177"/>
            <a:ext cx="231343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lnSpc>
                <a:spcPct val="112000"/>
              </a:lnSpc>
              <a:buNone/>
            </a:pPr>
            <a:r>
              <a:rPr lang="es-CL" sz="1100" noProof="0" dirty="0"/>
              <a:t>Nombre del trabajador al cual se le está realizando la rendición.</a:t>
            </a: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D4CF47B8-7372-A48C-83EB-6C9917004F93}"/>
              </a:ext>
            </a:extLst>
          </p:cNvPr>
          <p:cNvSpPr/>
          <p:nvPr/>
        </p:nvSpPr>
        <p:spPr>
          <a:xfrm>
            <a:off x="9401499" y="2684956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30" b="1" i="1" noProof="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endParaRPr lang="es-CL" sz="1130" i="1" noProof="0" dirty="0">
              <a:solidFill>
                <a:schemeClr val="tx2"/>
              </a:solidFill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9543025C-F82A-67A7-430E-BB3B6ABD3902}"/>
              </a:ext>
            </a:extLst>
          </p:cNvPr>
          <p:cNvSpPr/>
          <p:nvPr/>
        </p:nvSpPr>
        <p:spPr>
          <a:xfrm>
            <a:off x="9421063" y="2817243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s-CL" sz="1100" noProof="0" dirty="0"/>
              <a:t>Seleccionar la opción Transferencia al titular del anticipo.</a:t>
            </a:r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8CAB2395-C0C4-B35F-C788-6B88F8E43B6E}"/>
              </a:ext>
            </a:extLst>
          </p:cNvPr>
          <p:cNvSpPr/>
          <p:nvPr/>
        </p:nvSpPr>
        <p:spPr>
          <a:xfrm>
            <a:off x="9455554" y="3393989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30" b="1" i="1" noProof="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Compañía</a:t>
            </a:r>
            <a:endParaRPr lang="es-CL" sz="1130" i="1" noProof="0" dirty="0">
              <a:solidFill>
                <a:schemeClr val="tx2"/>
              </a:solidFill>
            </a:endParaRPr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97D8407A-F566-D18C-5CFA-BF591A7869B1}"/>
              </a:ext>
            </a:extLst>
          </p:cNvPr>
          <p:cNvSpPr/>
          <p:nvPr/>
        </p:nvSpPr>
        <p:spPr>
          <a:xfrm>
            <a:off x="9446783" y="368695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s-CL" sz="1100" noProof="0" dirty="0"/>
              <a:t>Seleccionar la compañía que realiza la rendición de gastos.</a:t>
            </a:r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40E6708F-FC92-1E15-CB92-8C023D8DF2F8}"/>
              </a:ext>
            </a:extLst>
          </p:cNvPr>
          <p:cNvSpPr/>
          <p:nvPr/>
        </p:nvSpPr>
        <p:spPr>
          <a:xfrm>
            <a:off x="9119980" y="5301021"/>
            <a:ext cx="2698444" cy="793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1100" noProof="0" dirty="0"/>
              <a:t>Marcar la casilla [Pagado] e ingresar la fecha del pago.</a:t>
            </a:r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C1CA0FB0-3ECA-B8BC-C139-626936A517BF}"/>
              </a:ext>
            </a:extLst>
          </p:cNvPr>
          <p:cNvSpPr/>
          <p:nvPr/>
        </p:nvSpPr>
        <p:spPr>
          <a:xfrm>
            <a:off x="8942358" y="1735415"/>
            <a:ext cx="347472" cy="347472"/>
          </a:xfrm>
          <a:prstGeom prst="ellipse">
            <a:avLst/>
          </a:prstGeom>
          <a:solidFill>
            <a:srgbClr val="FEE10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5" name="Shape 4">
            <a:extLst>
              <a:ext uri="{FF2B5EF4-FFF2-40B4-BE49-F238E27FC236}">
                <a16:creationId xmlns:a16="http://schemas.microsoft.com/office/drawing/2014/main" id="{491C21A4-EAF6-B22F-CA05-B669BED5DD61}"/>
              </a:ext>
            </a:extLst>
          </p:cNvPr>
          <p:cNvSpPr/>
          <p:nvPr/>
        </p:nvSpPr>
        <p:spPr>
          <a:xfrm>
            <a:off x="8946244" y="2632811"/>
            <a:ext cx="347472" cy="347472"/>
          </a:xfrm>
          <a:prstGeom prst="ellipse">
            <a:avLst/>
          </a:prstGeom>
          <a:solidFill>
            <a:srgbClr val="FEE10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91F63B12-45A1-8CF8-09D8-CE7D6D23141A}"/>
              </a:ext>
            </a:extLst>
          </p:cNvPr>
          <p:cNvSpPr/>
          <p:nvPr/>
        </p:nvSpPr>
        <p:spPr>
          <a:xfrm>
            <a:off x="8953104" y="173541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CL" sz="1300" noProof="0" dirty="0"/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1588DE0A-9F7B-1BF0-4179-DBDE1C2FB004}"/>
              </a:ext>
            </a:extLst>
          </p:cNvPr>
          <p:cNvSpPr/>
          <p:nvPr/>
        </p:nvSpPr>
        <p:spPr>
          <a:xfrm>
            <a:off x="8942358" y="263281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CL" sz="1300" noProof="0" dirty="0"/>
          </a:p>
        </p:txBody>
      </p:sp>
      <p:sp>
        <p:nvSpPr>
          <p:cNvPr id="41" name="Shape 4">
            <a:extLst>
              <a:ext uri="{FF2B5EF4-FFF2-40B4-BE49-F238E27FC236}">
                <a16:creationId xmlns:a16="http://schemas.microsoft.com/office/drawing/2014/main" id="{56A9104E-4E47-C865-679E-33AA5155C774}"/>
              </a:ext>
            </a:extLst>
          </p:cNvPr>
          <p:cNvSpPr/>
          <p:nvPr/>
        </p:nvSpPr>
        <p:spPr>
          <a:xfrm>
            <a:off x="8953104" y="3352331"/>
            <a:ext cx="347472" cy="347472"/>
          </a:xfrm>
          <a:prstGeom prst="ellipse">
            <a:avLst/>
          </a:prstGeom>
          <a:solidFill>
            <a:srgbClr val="FEE10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29C95E57-CD3D-39B4-FAC6-9891822AEF24}"/>
              </a:ext>
            </a:extLst>
          </p:cNvPr>
          <p:cNvSpPr/>
          <p:nvPr/>
        </p:nvSpPr>
        <p:spPr>
          <a:xfrm>
            <a:off x="8953104" y="333947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CL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CL" sz="1300" noProof="0" dirty="0"/>
          </a:p>
        </p:txBody>
      </p:sp>
      <p:sp>
        <p:nvSpPr>
          <p:cNvPr id="45" name="Shape 4">
            <a:extLst>
              <a:ext uri="{FF2B5EF4-FFF2-40B4-BE49-F238E27FC236}">
                <a16:creationId xmlns:a16="http://schemas.microsoft.com/office/drawing/2014/main" id="{9F8E9090-AF86-F3A0-93BA-BE17C96BA49F}"/>
              </a:ext>
            </a:extLst>
          </p:cNvPr>
          <p:cNvSpPr/>
          <p:nvPr/>
        </p:nvSpPr>
        <p:spPr>
          <a:xfrm>
            <a:off x="8942358" y="4293483"/>
            <a:ext cx="347472" cy="347472"/>
          </a:xfrm>
          <a:prstGeom prst="ellipse">
            <a:avLst/>
          </a:prstGeom>
          <a:solidFill>
            <a:srgbClr val="FEE10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2D56164B-260B-B77E-5FDC-D90EE12648E3}"/>
              </a:ext>
            </a:extLst>
          </p:cNvPr>
          <p:cNvSpPr/>
          <p:nvPr/>
        </p:nvSpPr>
        <p:spPr>
          <a:xfrm>
            <a:off x="8953104" y="43005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CL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CL" sz="1300" noProof="0" dirty="0"/>
          </a:p>
        </p:txBody>
      </p:sp>
      <p:sp>
        <p:nvSpPr>
          <p:cNvPr id="49" name="Text 14">
            <a:extLst>
              <a:ext uri="{FF2B5EF4-FFF2-40B4-BE49-F238E27FC236}">
                <a16:creationId xmlns:a16="http://schemas.microsoft.com/office/drawing/2014/main" id="{1D932641-704F-4ECC-FF3A-8A7D075B60FF}"/>
              </a:ext>
            </a:extLst>
          </p:cNvPr>
          <p:cNvSpPr/>
          <p:nvPr/>
        </p:nvSpPr>
        <p:spPr>
          <a:xfrm>
            <a:off x="9421063" y="4348347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30" b="1" i="1" noProof="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Reclamo de gastos</a:t>
            </a:r>
            <a:endParaRPr lang="es-CL" sz="1130" i="1" noProof="0" dirty="0">
              <a:solidFill>
                <a:schemeClr val="tx2"/>
              </a:solidFill>
            </a:endParaRPr>
          </a:p>
        </p:txBody>
      </p:sp>
      <p:sp>
        <p:nvSpPr>
          <p:cNvPr id="51" name="Text 11">
            <a:extLst>
              <a:ext uri="{FF2B5EF4-FFF2-40B4-BE49-F238E27FC236}">
                <a16:creationId xmlns:a16="http://schemas.microsoft.com/office/drawing/2014/main" id="{D0EDE4F8-A4DD-24C4-042B-738AD0F002A6}"/>
              </a:ext>
            </a:extLst>
          </p:cNvPr>
          <p:cNvSpPr/>
          <p:nvPr/>
        </p:nvSpPr>
        <p:spPr>
          <a:xfrm>
            <a:off x="9417845" y="4663629"/>
            <a:ext cx="2316650" cy="569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100" dirty="0"/>
              <a:t>Documento de la rendición de gastos asociado al pago que se está realizando.</a:t>
            </a:r>
            <a:endParaRPr lang="es-CL" sz="1100" noProof="0" dirty="0"/>
          </a:p>
        </p:txBody>
      </p:sp>
    </p:spTree>
    <p:extLst>
      <p:ext uri="{BB962C8B-B14F-4D97-AF65-F5344CB8AC3E}">
        <p14:creationId xmlns:p14="http://schemas.microsoft.com/office/powerpoint/2010/main" val="919346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DE72A-C286-5D8B-412E-B87A95A0B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20">
            <a:extLst>
              <a:ext uri="{FF2B5EF4-FFF2-40B4-BE49-F238E27FC236}">
                <a16:creationId xmlns:a16="http://schemas.microsoft.com/office/drawing/2014/main" id="{D8B358CB-3129-A37F-0D86-91ED584D3C40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9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1C · Rendición de gastos</a:t>
            </a:r>
            <a:endParaRPr lang="es-CL" sz="900" dirty="0"/>
          </a:p>
        </p:txBody>
      </p:sp>
      <p:sp>
        <p:nvSpPr>
          <p:cNvPr id="19" name="Text 36">
            <a:extLst>
              <a:ext uri="{FF2B5EF4-FFF2-40B4-BE49-F238E27FC236}">
                <a16:creationId xmlns:a16="http://schemas.microsoft.com/office/drawing/2014/main" id="{66F1A220-C033-D28C-3ABA-62C6DD21E552}"/>
              </a:ext>
            </a:extLst>
          </p:cNvPr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900" noProof="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s-CL" sz="900" noProof="0" dirty="0"/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BEF8E4F2-BF3A-6A7D-14B5-0CC505DE7BE1}"/>
              </a:ext>
            </a:extLst>
          </p:cNvPr>
          <p:cNvSpPr/>
          <p:nvPr/>
        </p:nvSpPr>
        <p:spPr>
          <a:xfrm>
            <a:off x="868680" y="306565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2400" b="1" noProof="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Pagar la rendición de gastos</a:t>
            </a:r>
            <a:endParaRPr lang="es-CL" sz="2400" noProof="0" dirty="0">
              <a:solidFill>
                <a:schemeClr val="tx2"/>
              </a:solidFill>
            </a:endParaRPr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D0E56BFF-2A99-CCD4-3057-276A81634777}"/>
              </a:ext>
            </a:extLst>
          </p:cNvPr>
          <p:cNvSpPr/>
          <p:nvPr/>
        </p:nvSpPr>
        <p:spPr>
          <a:xfrm>
            <a:off x="905629" y="723127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s-CL" sz="1200" noProof="0" dirty="0"/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4BE1E4BD-6138-AA2D-6027-F569C37F92E2}"/>
              </a:ext>
            </a:extLst>
          </p:cNvPr>
          <p:cNvSpPr/>
          <p:nvPr/>
        </p:nvSpPr>
        <p:spPr>
          <a:xfrm>
            <a:off x="626364" y="1252728"/>
            <a:ext cx="8101584" cy="4426726"/>
          </a:xfrm>
          <a:prstGeom prst="roundRect">
            <a:avLst>
              <a:gd name="adj" fmla="val 1239"/>
            </a:avLst>
          </a:prstGeom>
          <a:solidFill>
            <a:srgbClr val="F4F6FC"/>
          </a:solidFill>
          <a:ln w="12700">
            <a:solidFill>
              <a:srgbClr val="E1E5F5"/>
            </a:solidFill>
            <a:prstDash val="solid"/>
          </a:ln>
          <a:effectLst>
            <a:outerShdw blurRad="101600" dist="38100" dir="5400000" algn="bl" rotWithShape="0">
              <a:srgbClr val="1B1F3B">
                <a:alpha val="15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308D98D1-02DE-3324-0F7B-C1A1F4CC163F}"/>
              </a:ext>
            </a:extLst>
          </p:cNvPr>
          <p:cNvSpPr/>
          <p:nvPr/>
        </p:nvSpPr>
        <p:spPr>
          <a:xfrm>
            <a:off x="8942358" y="11658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a completar:</a:t>
            </a:r>
            <a:endParaRPr lang="es-CL" sz="1300" noProof="0" dirty="0"/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08B9429E-31F3-35EC-B7B4-6D026DC0813D}"/>
              </a:ext>
            </a:extLst>
          </p:cNvPr>
          <p:cNvSpPr/>
          <p:nvPr/>
        </p:nvSpPr>
        <p:spPr>
          <a:xfrm>
            <a:off x="905629" y="723174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1200" noProof="0" dirty="0"/>
              <a:t>Información adicional.</a:t>
            </a: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EE79DFC2-01EC-3D53-4BB3-67514A419E3D}"/>
              </a:ext>
            </a:extLst>
          </p:cNvPr>
          <p:cNvSpPr/>
          <p:nvPr/>
        </p:nvSpPr>
        <p:spPr>
          <a:xfrm>
            <a:off x="9382678" y="1790279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i="1" noProof="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del documento externo</a:t>
            </a:r>
            <a:endParaRPr lang="es-CL" sz="1200" i="1" noProof="0" dirty="0">
              <a:solidFill>
                <a:schemeClr val="tx2"/>
              </a:solidFill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8CA218F7-AC95-7BF0-547D-7AFBAC9ECA2C}"/>
              </a:ext>
            </a:extLst>
          </p:cNvPr>
          <p:cNvSpPr/>
          <p:nvPr/>
        </p:nvSpPr>
        <p:spPr>
          <a:xfrm>
            <a:off x="9382678" y="2007177"/>
            <a:ext cx="231343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lnSpc>
                <a:spcPct val="112000"/>
              </a:lnSpc>
              <a:buNone/>
            </a:pPr>
            <a:r>
              <a:rPr lang="es-CL" sz="1100" noProof="0" dirty="0"/>
              <a:t>Nombre del trabajador al cual se le está realizando la rendición.</a:t>
            </a: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E95A2F83-70C6-D690-5929-5B206AF530CC}"/>
              </a:ext>
            </a:extLst>
          </p:cNvPr>
          <p:cNvSpPr/>
          <p:nvPr/>
        </p:nvSpPr>
        <p:spPr>
          <a:xfrm>
            <a:off x="9401499" y="2684956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30" b="1" i="1" noProof="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bancaria</a:t>
            </a:r>
            <a:endParaRPr lang="es-CL" sz="1130" i="1" noProof="0" dirty="0">
              <a:solidFill>
                <a:schemeClr val="tx2"/>
              </a:solidFill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E4B80CD2-6F65-FF93-A8D5-ED8B5A1010FC}"/>
              </a:ext>
            </a:extLst>
          </p:cNvPr>
          <p:cNvSpPr/>
          <p:nvPr/>
        </p:nvSpPr>
        <p:spPr>
          <a:xfrm>
            <a:off x="9421063" y="2817243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100" dirty="0"/>
              <a:t>Información o detalle asociado al movimiento bancario.</a:t>
            </a:r>
            <a:endParaRPr lang="es-CL" sz="1100" noProof="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372AD1E5-D6D6-C6EB-894F-932D571B459E}"/>
              </a:ext>
            </a:extLst>
          </p:cNvPr>
          <p:cNvSpPr/>
          <p:nvPr/>
        </p:nvSpPr>
        <p:spPr>
          <a:xfrm>
            <a:off x="9455554" y="3393989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30" b="1" i="1" noProof="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 del pago</a:t>
            </a:r>
            <a:endParaRPr lang="es-CL" sz="1130" i="1" noProof="0" dirty="0">
              <a:solidFill>
                <a:schemeClr val="tx2"/>
              </a:solidFill>
            </a:endParaRPr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2F099516-A2A1-5A72-AC73-605E277A9095}"/>
              </a:ext>
            </a:extLst>
          </p:cNvPr>
          <p:cNvSpPr/>
          <p:nvPr/>
        </p:nvSpPr>
        <p:spPr>
          <a:xfrm>
            <a:off x="9446783" y="368695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100" dirty="0"/>
              <a:t>Motivo por el cual se realiza el pago.</a:t>
            </a:r>
            <a:endParaRPr lang="es-CL" sz="1100" noProof="0" dirty="0"/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B7520EF7-C12E-68C5-DA9E-07B842AB0844}"/>
              </a:ext>
            </a:extLst>
          </p:cNvPr>
          <p:cNvSpPr/>
          <p:nvPr/>
        </p:nvSpPr>
        <p:spPr>
          <a:xfrm>
            <a:off x="8942358" y="1735415"/>
            <a:ext cx="347472" cy="347472"/>
          </a:xfrm>
          <a:prstGeom prst="ellipse">
            <a:avLst/>
          </a:prstGeom>
          <a:solidFill>
            <a:srgbClr val="FEE10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5" name="Shape 4">
            <a:extLst>
              <a:ext uri="{FF2B5EF4-FFF2-40B4-BE49-F238E27FC236}">
                <a16:creationId xmlns:a16="http://schemas.microsoft.com/office/drawing/2014/main" id="{A00BCCD8-E68E-2267-531E-E8E936F98E0C}"/>
              </a:ext>
            </a:extLst>
          </p:cNvPr>
          <p:cNvSpPr/>
          <p:nvPr/>
        </p:nvSpPr>
        <p:spPr>
          <a:xfrm>
            <a:off x="8946244" y="2632811"/>
            <a:ext cx="347472" cy="347472"/>
          </a:xfrm>
          <a:prstGeom prst="ellipse">
            <a:avLst/>
          </a:prstGeom>
          <a:solidFill>
            <a:srgbClr val="FEE10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1AC08524-CE9D-56D2-8173-5B58A2786D6B}"/>
              </a:ext>
            </a:extLst>
          </p:cNvPr>
          <p:cNvSpPr/>
          <p:nvPr/>
        </p:nvSpPr>
        <p:spPr>
          <a:xfrm>
            <a:off x="8953104" y="173541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CL" sz="1300" noProof="0" dirty="0"/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0DA22234-DEF4-7073-37D4-3D943D4162B5}"/>
              </a:ext>
            </a:extLst>
          </p:cNvPr>
          <p:cNvSpPr/>
          <p:nvPr/>
        </p:nvSpPr>
        <p:spPr>
          <a:xfrm>
            <a:off x="8942358" y="263281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CL" sz="1300" noProof="0" dirty="0"/>
          </a:p>
        </p:txBody>
      </p:sp>
      <p:sp>
        <p:nvSpPr>
          <p:cNvPr id="41" name="Shape 4">
            <a:extLst>
              <a:ext uri="{FF2B5EF4-FFF2-40B4-BE49-F238E27FC236}">
                <a16:creationId xmlns:a16="http://schemas.microsoft.com/office/drawing/2014/main" id="{C1A73917-AB6D-793E-848F-347CAF6B9322}"/>
              </a:ext>
            </a:extLst>
          </p:cNvPr>
          <p:cNvSpPr/>
          <p:nvPr/>
        </p:nvSpPr>
        <p:spPr>
          <a:xfrm>
            <a:off x="8953104" y="3352331"/>
            <a:ext cx="347472" cy="347472"/>
          </a:xfrm>
          <a:prstGeom prst="ellipse">
            <a:avLst/>
          </a:prstGeom>
          <a:solidFill>
            <a:srgbClr val="FEE10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1D6428FD-0D00-42F4-ECFD-B0499E4CA53B}"/>
              </a:ext>
            </a:extLst>
          </p:cNvPr>
          <p:cNvSpPr/>
          <p:nvPr/>
        </p:nvSpPr>
        <p:spPr>
          <a:xfrm>
            <a:off x="8953104" y="333947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CL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CL" sz="1300" noProof="0" dirty="0"/>
          </a:p>
        </p:txBody>
      </p:sp>
      <p:sp>
        <p:nvSpPr>
          <p:cNvPr id="45" name="Shape 4">
            <a:extLst>
              <a:ext uri="{FF2B5EF4-FFF2-40B4-BE49-F238E27FC236}">
                <a16:creationId xmlns:a16="http://schemas.microsoft.com/office/drawing/2014/main" id="{027031A3-A471-155C-602E-1473986A4F81}"/>
              </a:ext>
            </a:extLst>
          </p:cNvPr>
          <p:cNvSpPr/>
          <p:nvPr/>
        </p:nvSpPr>
        <p:spPr>
          <a:xfrm>
            <a:off x="8942358" y="4293483"/>
            <a:ext cx="347472" cy="347472"/>
          </a:xfrm>
          <a:prstGeom prst="ellipse">
            <a:avLst/>
          </a:prstGeom>
          <a:solidFill>
            <a:srgbClr val="FEE10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2DC108BE-2399-040D-FA6B-11FFE65930DE}"/>
              </a:ext>
            </a:extLst>
          </p:cNvPr>
          <p:cNvSpPr/>
          <p:nvPr/>
        </p:nvSpPr>
        <p:spPr>
          <a:xfrm>
            <a:off x="8953104" y="43005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CL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CL" sz="1300" noProof="0" dirty="0"/>
          </a:p>
        </p:txBody>
      </p:sp>
      <p:sp>
        <p:nvSpPr>
          <p:cNvPr id="49" name="Text 14">
            <a:extLst>
              <a:ext uri="{FF2B5EF4-FFF2-40B4-BE49-F238E27FC236}">
                <a16:creationId xmlns:a16="http://schemas.microsoft.com/office/drawing/2014/main" id="{DBB76AA4-45A4-79EC-B86B-FB4DAC59E1F1}"/>
              </a:ext>
            </a:extLst>
          </p:cNvPr>
          <p:cNvSpPr/>
          <p:nvPr/>
        </p:nvSpPr>
        <p:spPr>
          <a:xfrm>
            <a:off x="9421063" y="4348347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30" b="1" i="1" noProof="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</a:t>
            </a:r>
            <a:endParaRPr lang="es-CL" sz="1130" i="1" noProof="0" dirty="0">
              <a:solidFill>
                <a:schemeClr val="tx2"/>
              </a:solidFill>
            </a:endParaRPr>
          </a:p>
        </p:txBody>
      </p:sp>
      <p:sp>
        <p:nvSpPr>
          <p:cNvPr id="51" name="Text 11">
            <a:extLst>
              <a:ext uri="{FF2B5EF4-FFF2-40B4-BE49-F238E27FC236}">
                <a16:creationId xmlns:a16="http://schemas.microsoft.com/office/drawing/2014/main" id="{B6B87575-23F0-936C-0FEA-EAC5F7B5ACAB}"/>
              </a:ext>
            </a:extLst>
          </p:cNvPr>
          <p:cNvSpPr/>
          <p:nvPr/>
        </p:nvSpPr>
        <p:spPr>
          <a:xfrm>
            <a:off x="9417845" y="4663629"/>
            <a:ext cx="2316650" cy="4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s-CL" sz="1100" noProof="0" dirty="0"/>
              <a:t>Comentario adicional al pago bancario.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8A3C6AB-428F-719D-D17A-3B1021117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" y="1252682"/>
            <a:ext cx="8101584" cy="4423180"/>
          </a:xfrm>
          <a:prstGeom prst="rect">
            <a:avLst/>
          </a:prstGeom>
        </p:spPr>
      </p:pic>
      <p:sp>
        <p:nvSpPr>
          <p:cNvPr id="5" name="Text 18">
            <a:extLst>
              <a:ext uri="{FF2B5EF4-FFF2-40B4-BE49-F238E27FC236}">
                <a16:creationId xmlns:a16="http://schemas.microsoft.com/office/drawing/2014/main" id="{EC6D21C9-3756-9991-58BE-3071274725F8}"/>
              </a:ext>
            </a:extLst>
          </p:cNvPr>
          <p:cNvSpPr/>
          <p:nvPr/>
        </p:nvSpPr>
        <p:spPr>
          <a:xfrm>
            <a:off x="9119980" y="5301021"/>
            <a:ext cx="2698444" cy="793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1100" noProof="0" dirty="0"/>
              <a:t>Revisar todos los campos mencionados anteriormente y seleccionar el botón [Validar y cerrar].</a:t>
            </a:r>
          </a:p>
        </p:txBody>
      </p:sp>
    </p:spTree>
    <p:extLst>
      <p:ext uri="{BB962C8B-B14F-4D97-AF65-F5344CB8AC3E}">
        <p14:creationId xmlns:p14="http://schemas.microsoft.com/office/powerpoint/2010/main" val="531619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8f60641-f118-4507-bedf-7b24a5c76c8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69931D520835A4D9E9801C14CCD7931" ma:contentTypeVersion="9" ma:contentTypeDescription="Crear nuevo documento." ma:contentTypeScope="" ma:versionID="f54b359170d8d3e62bdb0498a08abd5c">
  <xsd:schema xmlns:xsd="http://www.w3.org/2001/XMLSchema" xmlns:xs="http://www.w3.org/2001/XMLSchema" xmlns:p="http://schemas.microsoft.com/office/2006/metadata/properties" xmlns:ns3="88f60641-f118-4507-bedf-7b24a5c76c82" targetNamespace="http://schemas.microsoft.com/office/2006/metadata/properties" ma:root="true" ma:fieldsID="3bd816c2d96abaf92a98275b79255a1b" ns3:_="">
    <xsd:import namespace="88f60641-f118-4507-bedf-7b24a5c76c8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f60641-f118-4507-bedf-7b24a5c76c8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AB4C07-8661-4C66-B757-3044D2008870}">
  <ds:schemaRefs>
    <ds:schemaRef ds:uri="http://schemas.microsoft.com/office/2006/metadata/properties"/>
    <ds:schemaRef ds:uri="http://schemas.microsoft.com/office/infopath/2007/PartnerControls"/>
    <ds:schemaRef ds:uri="88f60641-f118-4507-bedf-7b24a5c76c82"/>
  </ds:schemaRefs>
</ds:datastoreItem>
</file>

<file path=customXml/itemProps2.xml><?xml version="1.0" encoding="utf-8"?>
<ds:datastoreItem xmlns:ds="http://schemas.openxmlformats.org/officeDocument/2006/customXml" ds:itemID="{B83F17FD-BA9B-49A8-A59B-589543EA82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f60641-f118-4507-bedf-7b24a5c76c8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219948B-DC72-4764-833D-B286C334B36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473</Words>
  <Application>Microsoft Office PowerPoint</Application>
  <PresentationFormat>Panorámica</PresentationFormat>
  <Paragraphs>98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Cambria</vt:lpstr>
      <vt:lpstr>Tema de Office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Valentín Navarro</dc:creator>
  <cp:lastModifiedBy>Valentín Navarro</cp:lastModifiedBy>
  <cp:revision>4</cp:revision>
  <dcterms:created xsi:type="dcterms:W3CDTF">2026-08-31T15:36:22Z</dcterms:created>
  <dcterms:modified xsi:type="dcterms:W3CDTF">2026-08-31T21:27:49Z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0x010100469931D520835A4D9E9801C14CCD7931</vt:lpwstr>
  </property>
</Properties>
</file>
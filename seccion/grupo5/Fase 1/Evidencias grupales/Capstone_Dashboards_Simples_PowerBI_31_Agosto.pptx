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" cy="429768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Generación Automática de</a:t>
            </a:r>
          </a:p>
          <a:p>
            <a:pPr>
              <a:defRPr sz="3800" b="1">
                <a:solidFill>
                  <a:srgbClr val="32B4CD"/>
                </a:solidFill>
              </a:defRPr>
            </a:pPr>
            <a:r>
              <a:t>Dashboards Simples en Power BI</a:t>
            </a:r>
          </a:p>
          <a:p>
            <a:pPr>
              <a:spcBef>
                <a:spcPts val="1800"/>
              </a:spcBef>
              <a:defRPr sz="1900">
                <a:solidFill>
                  <a:srgbClr val="CDD7E6"/>
                </a:solidFill>
              </a:defRPr>
            </a:pPr>
            <a:r>
              <a:t>CAPSTONE | BI +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977639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De una solicitud en lenguaje natural a un dashboard simple, validado y estandarizado.</a:t>
            </a:r>
          </a:p>
          <a:p>
            <a:pPr>
              <a:defRPr sz="1300">
                <a:solidFill>
                  <a:srgbClr val="BEC8D7"/>
                </a:solidFill>
              </a:defRPr>
            </a:pPr>
            <a:r>
              <a:t>Presentación • 31 de agosto de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1.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Incluso un reporte básico requiere varias tareas de BI.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Solicitud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B34"/>
                </a:solidFill>
              </a:defRPr>
            </a:pPr>
            <a:r>
              <a:t>El usuario plantea una necesidad en lenguaje natural.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Traducción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B34"/>
                </a:solidFill>
              </a:defRPr>
            </a:pPr>
            <a:r>
              <a:t>Hay que identificar tablas, campos, filtros y métricas.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82880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Construcción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B34"/>
                </a:solidFill>
              </a:defRPr>
            </a:pPr>
            <a:r>
              <a:t>Se prepara SQL y se configura el reporte en Power BI.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Los reportes simples y repetitivos siguen estructuras similares.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Caso demostrativo: datos ficticios inspirados en procesos del sector asegurador.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Ejemplo: “Necesito un detalle de siniestros por póliza, con filtros de fecha y producto, y un KPI con el monto total pagado.”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2. 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Fricciones que el producto busca reducir.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Pedidos en lenguaje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7548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Traducción manual a campos, filtros y 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16636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1874519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Reportes repetitivos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7548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Tiempo invertido en configuraciones similares.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16636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73152" cy="1874519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Conocimiento distribuido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47548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Mayor dependencia de perfiles con experiencia.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16636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73152" cy="1874519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3075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Errores y falta de estándar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475488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Consultas o campos incorrectos generan resultados inconsistentes.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3.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La IA define el contenido; las reglas validan; las plantillas estandarizan.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6916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Solicitud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2928"/>
            <a:ext cx="1417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737D"/>
                </a:solidFill>
              </a:defRPr>
            </a:pPr>
            <a:r>
              <a:t>Lenguaje natural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965960"/>
            <a:ext cx="16916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26080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3317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852928"/>
            <a:ext cx="1417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737D"/>
                </a:solidFill>
              </a:defRPr>
            </a:pPr>
            <a:r>
              <a:t>Interpretación +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65960"/>
            <a:ext cx="16916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73752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3317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852928"/>
            <a:ext cx="1417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737D"/>
                </a:solidFill>
              </a:defRPr>
            </a:pPr>
            <a:r>
              <a:t>Validación +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965960"/>
            <a:ext cx="16916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1424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3317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Plantilla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852928"/>
            <a:ext cx="1417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737D"/>
                </a:solidFill>
              </a:defRPr>
            </a:pPr>
            <a:r>
              <a:t>Configuración controlada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7" y="1965960"/>
            <a:ext cx="16916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69095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3317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852928"/>
            <a:ext cx="1417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737D"/>
                </a:solidFill>
              </a:defRPr>
            </a:pPr>
            <a:r>
              <a:t>Dashboard simple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39" y="1965960"/>
            <a:ext cx="16916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16767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6999" y="23317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Analista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6999" y="2852928"/>
            <a:ext cx="1417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737D"/>
                </a:solidFill>
              </a:defRPr>
            </a:pPr>
            <a:r>
              <a:t>Revisión y aprobación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720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B34"/>
                </a:solidFill>
              </a:defRPr>
            </a:pPr>
            <a:r>
              <a:t>• El usuario mantiene el control: el resultado se revisa antes de aceptar.</a:t>
            </a:r>
          </a:p>
          <a:p>
            <a:pPr>
              <a:spcAft>
                <a:spcPts val="1200"/>
              </a:spcAft>
              <a:defRPr sz="1500">
                <a:solidFill>
                  <a:srgbClr val="232B34"/>
                </a:solidFill>
              </a:defRPr>
            </a:pPr>
            <a:r>
              <a:t>• El MVP se limita a cuatro plantillas: detalle, KPI + detalle, gráfico + detalle y tendencia simple.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4. Plan de trabajo —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Construcción incremental con backlog, Sprints, Review y Retrospectiva.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55448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Product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632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Generar dashboards simples de Power BI desde lenguaje natural.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347472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73152" cy="155448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192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30632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4"/>
                </a:solidFill>
              </a:defRPr>
            </a:pPr>
            <a:r>
              <a:t>PO: prioriza valor • SM: facilita • Developers: datos, Python, IA, Power BI y pruebas.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1645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49047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659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Alcance + mockup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25880"/>
            <a:ext cx="1645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73152" cy="141732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9047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Datos + DW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325880"/>
            <a:ext cx="1645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325880"/>
            <a:ext cx="73152" cy="141732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49047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659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Metadatos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1325880"/>
            <a:ext cx="1645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1325880"/>
            <a:ext cx="73152" cy="14173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49047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19659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Interpretación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154680"/>
            <a:ext cx="1645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154680"/>
            <a:ext cx="73152" cy="14173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31927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7947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SQL + dataset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154680"/>
            <a:ext cx="1645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154680"/>
            <a:ext cx="73152" cy="141732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31927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947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Power BI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154680"/>
            <a:ext cx="1645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3154680"/>
            <a:ext cx="73152" cy="141732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31927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7947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Calidad + cierre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0749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• Definition of Done: integrado, probado, documentado y demostrable.</a:t>
            </a:r>
          </a:p>
          <a:p>
            <a:pPr>
              <a:spcAft>
                <a:spcPts val="1200"/>
              </a:spcAft>
              <a:defRPr sz="1400">
                <a:solidFill>
                  <a:srgbClr val="232B34"/>
                </a:solidFill>
              </a:defRPr>
            </a:pPr>
            <a:r>
              <a:t>• Cada Sprint debe cerrar con un incremento revisable.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5. Tecnología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Stack propuesto y flujo lógico del MVP.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6002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Base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063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SQL Server Developer/Express</a:t>
            </a:r>
            <a:br/>
            <a:r>
              <a:t>DW ficticio, metadatos y consultas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60020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9903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Backend / reglas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3063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Python 3.12</a:t>
            </a:r>
            <a:br/>
            <a:r>
              <a:t>Orquestación, validaciones y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73152" cy="160020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39903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Interfaz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19"/>
            <a:ext cx="3063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Streamlit</a:t>
            </a:r>
            <a:br/>
            <a:r>
              <a:t>Ingreso de solicitudes y revisión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5468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73152" cy="160020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192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3063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Azure OpenAI / OpenAI API / LLM autorizado</a:t>
            </a:r>
            <a:br/>
            <a:r>
              <a:t>Interpretación y salida estructurada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15468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154680"/>
            <a:ext cx="73152" cy="16002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3192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Intermedio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94760"/>
            <a:ext cx="3063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JSON</a:t>
            </a:r>
            <a:br/>
            <a:r>
              <a:t>Contrato entre IA, validaciones y plantilla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15468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154680"/>
            <a:ext cx="73152" cy="160020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3192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Visualización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794760"/>
            <a:ext cx="3063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Power BI Desktop + plantillas</a:t>
            </a:r>
            <a:br/>
            <a:r>
              <a:t>Generación y revisión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Streamlit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8528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Python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4136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SQL Server</a:t>
            </a:r>
            <a:br/>
            <a:r>
              <a:t>Metadatos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9744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5352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JSON</a:t>
            </a:r>
            <a:br/>
            <a:r>
              <a:t>validado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SQL / Dataset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16568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Plantilla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52176" y="5074920"/>
            <a:ext cx="1170432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</a:defRPr>
            </a:pPr>
            <a:r>
              <a:t>Power BI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6. Base de datos y caso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Data Warehouse ficticio, sintético y de solo lectura.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292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731520"/>
          </a:xfrm>
          <a:prstGeom prst="rect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STG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61772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STG_POLIZA • STG_SINIESTRO • STG_CLIENTE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50292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73152" cy="7315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61772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ODS_POLIZA • ODS_SINIESTRO • ODS_CLIENTE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50292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73152" cy="73152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10712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DIM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461772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DIM_FECHA • DIM_CLIENTE • DIM_PRODUCTO • DIM_REGION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06240"/>
            <a:ext cx="50292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206240"/>
            <a:ext cx="73152" cy="73152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70832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461772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4"/>
                </a:solidFill>
              </a:defRPr>
            </a:pPr>
            <a:r>
              <a:t>FT_PRIMA • FT_SINIESTRO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325880"/>
            <a:ext cx="52578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325880"/>
            <a:ext cx="73152" cy="18288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4904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Primer caso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9659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B34"/>
                </a:solidFill>
              </a:defRPr>
            </a:pPr>
            <a:r>
              <a:t>Detalle de siniestros con filtros por fecha, producto y región + KPI opcional de monto pagado total.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429000"/>
            <a:ext cx="52578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3429000"/>
            <a:ext cx="73152" cy="182880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5935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Detalle esperado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69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Siniestro, póliza, fecha, producto, región, estado, monto denunciado y monto pagado.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32B34"/>
                </a:solidFill>
              </a:defRPr>
            </a:pPr>
            <a:r>
              <a:t>• Seguridad: datos sintéticos, credenciales de solo lectura y consultas SELECT.</a:t>
            </a:r>
          </a:p>
          <a:p>
            <a:pPr>
              <a:spcAft>
                <a:spcPts val="1200"/>
              </a:spcAft>
              <a:defRPr sz="1300">
                <a:solidFill>
                  <a:srgbClr val="232B34"/>
                </a:solidFill>
              </a:defRPr>
            </a:pPr>
            <a:r>
              <a:t>• Tablas y campos deben validarse contra el catálogo antes de ejecutar.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7. Riesgos internos y externos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Mitigaciones definidas para mantener el proyecto realizable.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Riesgos internos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• Alcance excesivo → mantener cuatro plantillas.</a:t>
            </a:r>
            <a:br/>
            <a:r>
              <a:t>• Poca experiencia → pruebas técnicas pequeñas y priorizadas.</a:t>
            </a:r>
            <a:br/>
            <a:r>
              <a:t>• Datos ficticios inconsistentes → reglas + casos de prueba.</a:t>
            </a:r>
            <a:br/>
            <a:r>
              <a:t>• SQL/filtros incorrectos → validar esquema + solo SELECT.</a:t>
            </a:r>
            <a:br/>
            <a:r>
              <a:t>• Responsabilidades ambiguas → backlog visible y dueño por historia.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42976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Riesgos externos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• Costo/límites del LLM → proveedor intercambiable + control de consumo.</a:t>
            </a:r>
            <a:br/>
            <a:r>
              <a:t>• Licencias/acceso a Power BI → validar entorno temprano + contingencia.</a:t>
            </a:r>
            <a:br/>
            <a:r>
              <a:t>• Cambios de integraciones → aislar mediante JSON y plantillas.</a:t>
            </a:r>
            <a:br/>
            <a:r>
              <a:t>• Conectividad en demo → caso preparado + evidencia grabada.</a:t>
            </a:r>
            <a:br/>
            <a:r>
              <a:t>• Privacidad → utilizar exclusivamente datos ficticios.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8. Target y potencial vendible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El producto vende rapidez, consistencia y trazabilidad; no libertad total de diseño.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50876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Equipos BI pequeños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0632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Automatizar reportes repetitivos.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50876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Analistas BI en formación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30632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Reducir la curva de creación.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2588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25880"/>
            <a:ext cx="73152" cy="150876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Áreas de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0632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Solicitar información en lenguaje natural.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004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200400"/>
            <a:ext cx="73152" cy="15087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Consultoras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30632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Estandarizar entregables básicos.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0040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200400"/>
            <a:ext cx="73152" cy="150876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3649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Instituciones educativas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840480"/>
            <a:ext cx="30632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Demostrar el flujo completo.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166360"/>
            <a:ext cx="109728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166360"/>
            <a:ext cx="73152" cy="86868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30952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Propuesta de 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613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4"/>
                </a:solidFill>
              </a:defRPr>
            </a:pPr>
            <a:r>
              <a:t>“Convierte una pregunta de negocio en un dashboard simple de Power BI listo para revisar, utilizando el modelo de datos y plantillas definidas por la organización.”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9. Conclusión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37744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2377440"/>
          </a:xfrm>
          <a:prstGeom prst="rect">
            <a:avLst/>
          </a:prstGeom>
          <a:solidFill>
            <a:srgbClr val="32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¿Es factible?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39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B34"/>
                </a:solidFill>
              </a:defRPr>
            </a:pPr>
            <a:r>
              <a:t>Sí, si la automatización se mantiene dentro de plantillas simples y controladas.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83280" cy="237744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73152" cy="237744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¿Dónde está el valor?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39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B34"/>
                </a:solidFill>
              </a:defRPr>
            </a:pPr>
            <a:r>
              <a:t>Automatizar de punta a punta una familia reducida de dashboards repetitivos.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383280" cy="237744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08760"/>
            <a:ext cx="73152" cy="237744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7335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Éxito del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48839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B34"/>
                </a:solidFill>
              </a:defRPr>
            </a:pPr>
            <a:r>
              <a:t>Campos existentes + SQL válido + filtros correctos + detalle solicitado + plantilla respetada.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“La IA define el contenido; las reglas validan los datos; y las plantillas aseguran un resultado consistente y revisable.”</a:t>
            </a:r>
          </a:p>
          <a:p>
            <a:pPr algn="ctr">
              <a:defRPr sz="1400">
                <a:solidFill>
                  <a:srgbClr val="C8D2E1"/>
                </a:solidFill>
              </a:defRPr>
            </a:pPr>
            <a:r>
              <a:t>Siguiente validación técnica: confirmar el mecanismo exacto para completar y guardar el artefacto Power BI.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Mockup — fuera de los 10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Debe representar exactamente lo que el MVP puede automatizar.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44751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Pantalla 1 — Solicitud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39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4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Dominio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828799"/>
            <a:ext cx="3566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2B34"/>
                </a:solidFill>
              </a:defRPr>
            </a:pPr>
            <a:r>
              <a:t>Siniestros 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Solicitud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697480"/>
            <a:ext cx="3566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2B34"/>
                </a:solidFill>
              </a:defRPr>
            </a:pPr>
            <a:r>
              <a:t>Detalle de siniestros por fecha y producto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7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Plantilla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3566160"/>
            <a:ext cx="3566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2B34"/>
                </a:solidFill>
              </a:defRPr>
            </a:pPr>
            <a:r>
              <a:t>KPI + detalle 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4526280"/>
            <a:ext cx="1920240" cy="594360"/>
          </a:xfrm>
          <a:prstGeom prst="round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Generar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30352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73152" cy="448056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44751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Pantalla 2 — Vista previa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20239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B34"/>
                </a:solidFill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537960" y="1874519"/>
            <a:ext cx="129844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Fecha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1874519"/>
            <a:ext cx="129844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Producto 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0616" y="1874519"/>
            <a:ext cx="1298448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Región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606040"/>
            <a:ext cx="452628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33C"/>
                </a:solidFill>
              </a:defRPr>
            </a:pPr>
            <a:r>
              <a:t>Monto pagado: $ XXX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66160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B34"/>
                </a:solidFill>
              </a:defRPr>
            </a:pPr>
            <a:r>
              <a:t>Siniestro | Póliza | Fecha | Producto | Región | Monto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59352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B34"/>
                </a:solidFill>
              </a:defRPr>
            </a:pPr>
            <a:r>
              <a:t>001      | P-1001 | 10/08 | Auto    | RM     | $500.000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52544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B34"/>
                </a:solidFill>
              </a:defRPr>
            </a:pPr>
            <a:r>
              <a:t>002      | P-1002 | 12/08 | Hogar   | RM     | $250.000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745736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B34"/>
                </a:solidFill>
              </a:defRPr>
            </a:pPr>
            <a:r>
              <a:t>003      | P-1003 | 15/08 | Auto    | V      | $320.000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Guion de tiempo — máximo 10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La pauta del documento suma 9:15 y deja margen para transiciones.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Portada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2344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0:30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0:55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Problemática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2402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1:05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743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1:25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Scrum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2461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1:10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Tecnología / arquitectura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4903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1:35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Riesgos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2519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Target / vendible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7548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0:55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4"/>
                </a:solidFill>
              </a:defRPr>
            </a:pPr>
            <a:r>
              <a:t>Conclusión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257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ED2"/>
                </a:solidFill>
              </a:defRPr>
            </a:pPr>
            <a:r>
              <a:t>0:40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371600"/>
            <a:ext cx="1920240" cy="356616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9:15</a:t>
            </a:r>
          </a:p>
          <a:p>
            <a:pPr algn="ctr">
              <a:defRPr sz="1300">
                <a:solidFill>
                  <a:srgbClr val="CDD7E6"/>
                </a:solidFill>
              </a:defRPr>
            </a:pPr>
            <a:r>
              <a:t>tiempo planificado</a:t>
            </a:r>
          </a:p>
          <a:p>
            <a:pPr algn="ctr">
              <a:defRPr sz="1200">
                <a:solidFill>
                  <a:srgbClr val="32B4CD"/>
                </a:solidFill>
              </a:defRPr>
            </a:pPr>
            <a:r>
              <a:t>≈ 45 s de margen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CAPSTONE | BI +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
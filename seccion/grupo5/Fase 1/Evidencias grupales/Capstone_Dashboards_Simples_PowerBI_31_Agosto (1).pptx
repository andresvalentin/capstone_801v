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3pRcCkNGvES3vijUooxP8F1kt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9b2953a2f_4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9b2953a2f_4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9b2953a2f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9b2953a2f_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9b2953a2f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f9b2953a2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640080" y="960120"/>
            <a:ext cx="109728" cy="4297680"/>
          </a:xfrm>
          <a:prstGeom prst="rect">
            <a:avLst/>
          </a:prstGeom>
          <a:solidFill>
            <a:srgbClr val="32B4C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60120" y="105156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Generación Automática 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32B4CD"/>
                </a:solidFill>
                <a:latin typeface="Calibri"/>
                <a:ea typeface="Calibri"/>
                <a:cs typeface="Calibri"/>
                <a:sym typeface="Calibri"/>
              </a:rPr>
              <a:t>Dashboards Simples en Power BI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7E6"/>
                </a:solidFill>
                <a:latin typeface="Calibri"/>
                <a:ea typeface="Calibri"/>
                <a:cs typeface="Calibri"/>
                <a:sym typeface="Calibri"/>
              </a:rPr>
              <a:t>CAPSTONE | BI + IA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87552" y="3977639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una solicitud en lenguaje natural a un dashboard simple, validado y estandarizado.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EC8D7"/>
                </a:solidFill>
                <a:latin typeface="Calibri"/>
                <a:ea typeface="Calibri"/>
                <a:cs typeface="Calibri"/>
                <a:sym typeface="Calibri"/>
              </a:rPr>
              <a:t>Presentación • 31 de agosto de 2026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CAPSTONE | BI + 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594360" y="3200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 Indice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CAPSTONE | BI + IA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005058" y="1332132"/>
            <a:ext cx="384000" cy="384000"/>
          </a:xfrm>
          <a:prstGeom prst="ellipse">
            <a:avLst/>
          </a:prstGeom>
          <a:solidFill>
            <a:srgbClr val="2D6ED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050778" y="1441860"/>
            <a:ext cx="29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1535410" y="1405284"/>
            <a:ext cx="466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1005058" y="2045364"/>
            <a:ext cx="384000" cy="384000"/>
          </a:xfrm>
          <a:prstGeom prst="ellipse">
            <a:avLst/>
          </a:prstGeom>
          <a:solidFill>
            <a:srgbClr val="27B5C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1050778" y="2155092"/>
            <a:ext cx="29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535410" y="2118516"/>
            <a:ext cx="466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005058" y="2758596"/>
            <a:ext cx="384000" cy="384000"/>
          </a:xfrm>
          <a:prstGeom prst="ellipse">
            <a:avLst/>
          </a:prstGeom>
          <a:solidFill>
            <a:srgbClr val="E8B23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050778" y="2868324"/>
            <a:ext cx="29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535410" y="2831748"/>
            <a:ext cx="466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005058" y="3471828"/>
            <a:ext cx="384000" cy="384000"/>
          </a:xfrm>
          <a:prstGeom prst="ellipse">
            <a:avLst/>
          </a:prstGeom>
          <a:solidFill>
            <a:srgbClr val="2D6ED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1050778" y="3581556"/>
            <a:ext cx="29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535410" y="3544980"/>
            <a:ext cx="466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005058" y="4185060"/>
            <a:ext cx="384000" cy="384000"/>
          </a:xfrm>
          <a:prstGeom prst="ellipse">
            <a:avLst/>
          </a:prstGeom>
          <a:solidFill>
            <a:srgbClr val="27B5C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1050778" y="4294788"/>
            <a:ext cx="29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535410" y="4258212"/>
            <a:ext cx="466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Metodología · Plan · Roles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005058" y="4898292"/>
            <a:ext cx="384000" cy="384000"/>
          </a:xfrm>
          <a:prstGeom prst="ellipse">
            <a:avLst/>
          </a:prstGeom>
          <a:solidFill>
            <a:srgbClr val="E8B23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050778" y="5008020"/>
            <a:ext cx="29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1535410" y="4971444"/>
            <a:ext cx="466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Mapa tecnológico · Arquitectura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582898" y="1332132"/>
            <a:ext cx="384000" cy="384000"/>
          </a:xfrm>
          <a:prstGeom prst="ellipse">
            <a:avLst/>
          </a:prstGeom>
          <a:solidFill>
            <a:srgbClr val="2D6ED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6628618" y="1441860"/>
            <a:ext cx="29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7113250" y="1405284"/>
            <a:ext cx="466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Competencias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6582898" y="2045364"/>
            <a:ext cx="384000" cy="384000"/>
          </a:xfrm>
          <a:prstGeom prst="ellipse">
            <a:avLst/>
          </a:prstGeom>
          <a:solidFill>
            <a:srgbClr val="27B5C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6628618" y="2155092"/>
            <a:ext cx="29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7113250" y="2118516"/>
            <a:ext cx="466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6582898" y="2758596"/>
            <a:ext cx="384000" cy="384000"/>
          </a:xfrm>
          <a:prstGeom prst="ellipse">
            <a:avLst/>
          </a:prstGeom>
          <a:solidFill>
            <a:srgbClr val="E8B23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6628618" y="2868324"/>
            <a:ext cx="29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7113250" y="2831748"/>
            <a:ext cx="466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6582898" y="3471828"/>
            <a:ext cx="384000" cy="384000"/>
          </a:xfrm>
          <a:prstGeom prst="ellipse">
            <a:avLst/>
          </a:prstGeom>
          <a:solidFill>
            <a:srgbClr val="2D6ED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6628618" y="3581556"/>
            <a:ext cx="29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7113250" y="3544980"/>
            <a:ext cx="466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Modelo de negocio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6582898" y="4185060"/>
            <a:ext cx="384000" cy="384000"/>
          </a:xfrm>
          <a:prstGeom prst="ellipse">
            <a:avLst/>
          </a:prstGeom>
          <a:solidFill>
            <a:srgbClr val="27B5C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6628618" y="4294788"/>
            <a:ext cx="29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7113250" y="4258212"/>
            <a:ext cx="466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6582898" y="4898292"/>
            <a:ext cx="384000" cy="384000"/>
          </a:xfrm>
          <a:prstGeom prst="ellipse">
            <a:avLst/>
          </a:prstGeom>
          <a:solidFill>
            <a:srgbClr val="E8B23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628618" y="5008020"/>
            <a:ext cx="292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7113250" y="4971444"/>
            <a:ext cx="466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b2953a2f_4_48"/>
          <p:cNvSpPr/>
          <p:nvPr/>
        </p:nvSpPr>
        <p:spPr>
          <a:xfrm>
            <a:off x="685802" y="386971"/>
            <a:ext cx="9966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064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2800"/>
              <a:buFont typeface="Calibri"/>
              <a:buAutoNum type="arabicPeriod"/>
            </a:pPr>
            <a:r>
              <a:rPr b="1" i="0" lang="en-US" sz="2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f9b2953a2f_4_48"/>
          <p:cNvSpPr/>
          <p:nvPr/>
        </p:nvSpPr>
        <p:spPr>
          <a:xfrm>
            <a:off x="685800" y="1234440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4233C"/>
                </a:solidFill>
                <a:latin typeface="Arial"/>
                <a:ea typeface="Arial"/>
                <a:cs typeface="Arial"/>
                <a:sym typeface="Arial"/>
              </a:rPr>
              <a:t>¿Qué proponemos?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9b2953a2f_4_48"/>
          <p:cNvSpPr/>
          <p:nvPr/>
        </p:nvSpPr>
        <p:spPr>
          <a:xfrm>
            <a:off x="685800" y="1737360"/>
            <a:ext cx="475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ED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D6ED2"/>
                </a:solidFill>
                <a:latin typeface="Arial"/>
                <a:ea typeface="Arial"/>
                <a:cs typeface="Arial"/>
                <a:sym typeface="Arial"/>
              </a:rPr>
              <a:t>Desarrollar un prototipo que permita escribir una necesidad en lenguaje natural y obtener un dashboard simple en Power BI.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9b2953a2f_4_48"/>
          <p:cNvSpPr/>
          <p:nvPr/>
        </p:nvSpPr>
        <p:spPr>
          <a:xfrm>
            <a:off x="6035040" y="1234440"/>
            <a:ext cx="5257800" cy="3291900"/>
          </a:xfrm>
          <a:prstGeom prst="roundRect">
            <a:avLst>
              <a:gd fmla="val 2778" name="adj"/>
            </a:avLst>
          </a:prstGeom>
          <a:solidFill>
            <a:srgbClr val="EAF4FA"/>
          </a:solidFill>
          <a:ln cap="flat" cmpd="sng" w="12700">
            <a:solidFill>
              <a:srgbClr val="B9D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9b2953a2f_4_48"/>
          <p:cNvSpPr/>
          <p:nvPr/>
        </p:nvSpPr>
        <p:spPr>
          <a:xfrm>
            <a:off x="6537960" y="1828800"/>
            <a:ext cx="4251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33C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14233C"/>
                </a:solidFill>
                <a:latin typeface="Arial"/>
                <a:ea typeface="Arial"/>
                <a:cs typeface="Arial"/>
                <a:sym typeface="Arial"/>
              </a:rPr>
              <a:t>“Necesito un detalle de siniestros por póliza, con filtros por fecha, producto y región.”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9b2953a2f_4_48"/>
          <p:cNvSpPr/>
          <p:nvPr/>
        </p:nvSpPr>
        <p:spPr>
          <a:xfrm>
            <a:off x="7543800" y="3429000"/>
            <a:ext cx="2377500" cy="347400"/>
          </a:xfrm>
          <a:prstGeom prst="roundRect">
            <a:avLst>
              <a:gd fmla="val 21053" name="adj"/>
            </a:avLst>
          </a:prstGeom>
          <a:solidFill>
            <a:srgbClr val="E8B23A"/>
          </a:solidFill>
          <a:ln cap="flat" cmpd="sng" w="12700">
            <a:solidFill>
              <a:srgbClr val="E8B23A"/>
            </a:solidFill>
            <a:prstDash val="solid"/>
            <a:round/>
            <a:headEnd len="sm" w="sm" type="none"/>
            <a:tailEnd len="sm" w="sm" type="none"/>
          </a:ln>
          <a:effectLst>
            <a:outerShdw blurRad="6350" rotWithShape="0" algn="bl" dir="2700000" dist="635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9b2953a2f_4_48"/>
          <p:cNvSpPr/>
          <p:nvPr/>
        </p:nvSpPr>
        <p:spPr>
          <a:xfrm>
            <a:off x="7543800" y="3493008"/>
            <a:ext cx="2377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GENERAR DASHBOARD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9b2953a2f_4_48"/>
          <p:cNvSpPr/>
          <p:nvPr/>
        </p:nvSpPr>
        <p:spPr>
          <a:xfrm>
            <a:off x="685800" y="4983480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23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B23A"/>
                </a:solidFill>
                <a:latin typeface="Arial"/>
                <a:ea typeface="Arial"/>
                <a:cs typeface="Arial"/>
                <a:sym typeface="Arial"/>
              </a:rPr>
              <a:t>Estado actual: propuesta en Fase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9b2953a2f_4_48"/>
          <p:cNvSpPr/>
          <p:nvPr/>
        </p:nvSpPr>
        <p:spPr>
          <a:xfrm>
            <a:off x="685800" y="5349240"/>
            <a:ext cx="9966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B3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2B34"/>
                </a:solidFill>
                <a:latin typeface="Arial"/>
                <a:ea typeface="Arial"/>
                <a:cs typeface="Arial"/>
                <a:sym typeface="Arial"/>
              </a:rPr>
              <a:t>Todavía no existe un producto implementado. Esta presentación define qué se construirá, cómo se trabajará y qué riesgos deberán validarse.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b2953a2f_5_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9b2953a2f_5_0"/>
          <p:cNvSpPr txBox="1"/>
          <p:nvPr/>
        </p:nvSpPr>
        <p:spPr>
          <a:xfrm>
            <a:off x="594360" y="3200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. Contexto</a:t>
            </a:r>
            <a:endParaRPr/>
          </a:p>
        </p:txBody>
      </p:sp>
      <p:sp>
        <p:nvSpPr>
          <p:cNvPr id="154" name="Google Shape;154;g3f9b2953a2f_5_0"/>
          <p:cNvSpPr txBox="1"/>
          <p:nvPr/>
        </p:nvSpPr>
        <p:spPr>
          <a:xfrm>
            <a:off x="621792" y="914400"/>
            <a:ext cx="1078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Incluso un reporte básico requiere varias tareas de BI.</a:t>
            </a:r>
            <a:endParaRPr/>
          </a:p>
        </p:txBody>
      </p:sp>
      <p:sp>
        <p:nvSpPr>
          <p:cNvPr id="155" name="Google Shape;155;g3f9b2953a2f_5_0"/>
          <p:cNvSpPr/>
          <p:nvPr/>
        </p:nvSpPr>
        <p:spPr>
          <a:xfrm>
            <a:off x="640080" y="1417320"/>
            <a:ext cx="3383400" cy="1828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f9b2953a2f_5_0"/>
          <p:cNvSpPr/>
          <p:nvPr/>
        </p:nvSpPr>
        <p:spPr>
          <a:xfrm>
            <a:off x="640080" y="1417320"/>
            <a:ext cx="73200" cy="1828800"/>
          </a:xfrm>
          <a:prstGeom prst="rect">
            <a:avLst/>
          </a:prstGeom>
          <a:solidFill>
            <a:srgbClr val="2D6ED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f9b2953a2f_5_0"/>
          <p:cNvSpPr txBox="1"/>
          <p:nvPr/>
        </p:nvSpPr>
        <p:spPr>
          <a:xfrm>
            <a:off x="868680" y="1581912"/>
            <a:ext cx="297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Solicitud</a:t>
            </a:r>
            <a:endParaRPr/>
          </a:p>
        </p:txBody>
      </p:sp>
      <p:sp>
        <p:nvSpPr>
          <p:cNvPr id="158" name="Google Shape;158;g3f9b2953a2f_5_0"/>
          <p:cNvSpPr txBox="1"/>
          <p:nvPr/>
        </p:nvSpPr>
        <p:spPr>
          <a:xfrm>
            <a:off x="868680" y="2057400"/>
            <a:ext cx="297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El usuario plantea una necesidad en lenguaje natural.</a:t>
            </a:r>
            <a:endParaRPr/>
          </a:p>
        </p:txBody>
      </p:sp>
      <p:sp>
        <p:nvSpPr>
          <p:cNvPr id="159" name="Google Shape;159;g3f9b2953a2f_5_0"/>
          <p:cNvSpPr/>
          <p:nvPr/>
        </p:nvSpPr>
        <p:spPr>
          <a:xfrm>
            <a:off x="4389120" y="1417320"/>
            <a:ext cx="3383400" cy="1828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9b2953a2f_5_0"/>
          <p:cNvSpPr/>
          <p:nvPr/>
        </p:nvSpPr>
        <p:spPr>
          <a:xfrm>
            <a:off x="4389120" y="1417320"/>
            <a:ext cx="73200" cy="1828800"/>
          </a:xfrm>
          <a:prstGeom prst="rect">
            <a:avLst/>
          </a:prstGeom>
          <a:solidFill>
            <a:srgbClr val="32B4C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9b2953a2f_5_0"/>
          <p:cNvSpPr txBox="1"/>
          <p:nvPr/>
        </p:nvSpPr>
        <p:spPr>
          <a:xfrm>
            <a:off x="4617720" y="1581912"/>
            <a:ext cx="297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Traducción</a:t>
            </a:r>
            <a:endParaRPr/>
          </a:p>
        </p:txBody>
      </p:sp>
      <p:sp>
        <p:nvSpPr>
          <p:cNvPr id="162" name="Google Shape;162;g3f9b2953a2f_5_0"/>
          <p:cNvSpPr txBox="1"/>
          <p:nvPr/>
        </p:nvSpPr>
        <p:spPr>
          <a:xfrm>
            <a:off x="4617720" y="2057400"/>
            <a:ext cx="297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Hay que identificar tablas, campos, filtros y métricas.</a:t>
            </a:r>
            <a:endParaRPr/>
          </a:p>
        </p:txBody>
      </p:sp>
      <p:sp>
        <p:nvSpPr>
          <p:cNvPr id="163" name="Google Shape;163;g3f9b2953a2f_5_0"/>
          <p:cNvSpPr/>
          <p:nvPr/>
        </p:nvSpPr>
        <p:spPr>
          <a:xfrm>
            <a:off x="8138160" y="1417320"/>
            <a:ext cx="3383400" cy="1828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9b2953a2f_5_0"/>
          <p:cNvSpPr/>
          <p:nvPr/>
        </p:nvSpPr>
        <p:spPr>
          <a:xfrm>
            <a:off x="8138160" y="1417320"/>
            <a:ext cx="73200" cy="1828800"/>
          </a:xfrm>
          <a:prstGeom prst="rect">
            <a:avLst/>
          </a:prstGeom>
          <a:solidFill>
            <a:srgbClr val="2DA06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9b2953a2f_5_0"/>
          <p:cNvSpPr txBox="1"/>
          <p:nvPr/>
        </p:nvSpPr>
        <p:spPr>
          <a:xfrm>
            <a:off x="8366760" y="1581912"/>
            <a:ext cx="297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Construcción</a:t>
            </a:r>
            <a:endParaRPr/>
          </a:p>
        </p:txBody>
      </p:sp>
      <p:sp>
        <p:nvSpPr>
          <p:cNvPr id="166" name="Google Shape;166;g3f9b2953a2f_5_0"/>
          <p:cNvSpPr txBox="1"/>
          <p:nvPr/>
        </p:nvSpPr>
        <p:spPr>
          <a:xfrm>
            <a:off x="8366760" y="2057400"/>
            <a:ext cx="297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Se prepara SQL y se configura el reporte en Power BI.</a:t>
            </a:r>
            <a:endParaRPr/>
          </a:p>
        </p:txBody>
      </p:sp>
      <p:sp>
        <p:nvSpPr>
          <p:cNvPr id="167" name="Google Shape;167;g3f9b2953a2f_5_0"/>
          <p:cNvSpPr txBox="1"/>
          <p:nvPr/>
        </p:nvSpPr>
        <p:spPr>
          <a:xfrm>
            <a:off x="777240" y="3657600"/>
            <a:ext cx="10607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Los reportes simples y repetitivos siguen estructuras similares.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Caso demostrativo: datos ficticios inspirados en procesos del sector asegurador.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Ejemplo: “Necesito un detalle de siniestros por póliza, con filtros de fecha y producto, y un KPI con el monto total pagado.”</a:t>
            </a:r>
            <a:endParaRPr/>
          </a:p>
        </p:txBody>
      </p:sp>
      <p:sp>
        <p:nvSpPr>
          <p:cNvPr id="168" name="Google Shape;168;g3f9b2953a2f_5_0"/>
          <p:cNvSpPr/>
          <p:nvPr/>
        </p:nvSpPr>
        <p:spPr>
          <a:xfrm>
            <a:off x="594360" y="6537960"/>
            <a:ext cx="10972800" cy="18300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9b2953a2f_5_0"/>
          <p:cNvSpPr txBox="1"/>
          <p:nvPr/>
        </p:nvSpPr>
        <p:spPr>
          <a:xfrm>
            <a:off x="10789920" y="6565392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0" name="Google Shape;170;g3f9b2953a2f_5_0"/>
          <p:cNvSpPr txBox="1"/>
          <p:nvPr/>
        </p:nvSpPr>
        <p:spPr>
          <a:xfrm>
            <a:off x="621792" y="6565392"/>
            <a:ext cx="365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CAPSTONE | BI + IA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594360" y="3200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. Problemática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Fricciones que el producto busca reducir.</a:t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640080" y="1325880"/>
            <a:ext cx="5166360" cy="1874519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640080" y="1325880"/>
            <a:ext cx="73152" cy="1874519"/>
          </a:xfrm>
          <a:prstGeom prst="rect">
            <a:avLst/>
          </a:prstGeom>
          <a:solidFill>
            <a:srgbClr val="2D6E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868680" y="149047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Pedidos en lenguaje de negocio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868680" y="1965960"/>
            <a:ext cx="475488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Traducción manual a campos, filtros y SQL.</a:t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6217920" y="1325880"/>
            <a:ext cx="5166360" cy="1874519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6217920" y="1325880"/>
            <a:ext cx="73152" cy="1874519"/>
          </a:xfrm>
          <a:prstGeom prst="rect">
            <a:avLst/>
          </a:prstGeom>
          <a:solidFill>
            <a:srgbClr val="32B4C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6446520" y="149047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Reportes repetitivos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>
            <a:off x="6446520" y="1965960"/>
            <a:ext cx="475488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Tiempo invertido en configuraciones similares.</a:t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640080" y="3566160"/>
            <a:ext cx="5166360" cy="1874519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640080" y="3566160"/>
            <a:ext cx="73152" cy="1874519"/>
          </a:xfrm>
          <a:prstGeom prst="rect">
            <a:avLst/>
          </a:prstGeom>
          <a:solidFill>
            <a:srgbClr val="EB91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868680" y="373075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Conocimiento distribuido</a:t>
            </a:r>
            <a:endParaRPr/>
          </a:p>
        </p:txBody>
      </p:sp>
      <p:sp>
        <p:nvSpPr>
          <p:cNvPr id="189" name="Google Shape;189;p3"/>
          <p:cNvSpPr txBox="1"/>
          <p:nvPr/>
        </p:nvSpPr>
        <p:spPr>
          <a:xfrm>
            <a:off x="868680" y="4206240"/>
            <a:ext cx="475488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Mayor dependencia de perfiles con experiencia.</a:t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6217920" y="3566160"/>
            <a:ext cx="5166360" cy="1874519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6217920" y="3566160"/>
            <a:ext cx="73152" cy="1874519"/>
          </a:xfrm>
          <a:prstGeom prst="rect">
            <a:avLst/>
          </a:prstGeom>
          <a:solidFill>
            <a:srgbClr val="CD46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6446520" y="373075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Errores y falta de estándar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6446520" y="4206240"/>
            <a:ext cx="475488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Consultas o campos incorrectos generan resultados inconsistentes.</a:t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CAPSTONE | BI + IA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594360" y="3200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2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. Solución</a:t>
            </a:r>
            <a:endParaRPr/>
          </a:p>
        </p:txBody>
      </p:sp>
      <p:sp>
        <p:nvSpPr>
          <p:cNvPr id="203" name="Google Shape;203;p4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La IA define el contenido; las reglas validan; las plantillas estandarizan.</a:t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411480" y="1965960"/>
            <a:ext cx="1691640" cy="1828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7DE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978408" y="1572768"/>
            <a:ext cx="548640" cy="548640"/>
          </a:xfrm>
          <a:prstGeom prst="ellipse">
            <a:avLst/>
          </a:prstGeom>
          <a:solidFill>
            <a:srgbClr val="2D6E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548640" y="233172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Solicitud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548640" y="2852928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Lenguaje natural</a:t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2359152" y="1965960"/>
            <a:ext cx="1691640" cy="1828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7DE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2926080" y="1572768"/>
            <a:ext cx="548640" cy="548640"/>
          </a:xfrm>
          <a:prstGeom prst="ellipse">
            <a:avLst/>
          </a:prstGeom>
          <a:solidFill>
            <a:srgbClr val="2D6E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0" name="Google Shape;210;p4"/>
          <p:cNvSpPr txBox="1"/>
          <p:nvPr/>
        </p:nvSpPr>
        <p:spPr>
          <a:xfrm>
            <a:off x="2496312" y="233172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2496312" y="2852928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Interpretación + JSON</a:t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4306824" y="1965960"/>
            <a:ext cx="1691640" cy="1828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7DE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4873752" y="1572768"/>
            <a:ext cx="548640" cy="548640"/>
          </a:xfrm>
          <a:prstGeom prst="ellipse">
            <a:avLst/>
          </a:prstGeom>
          <a:solidFill>
            <a:srgbClr val="2D6E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4443984" y="233172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</p:txBody>
      </p:sp>
      <p:sp>
        <p:nvSpPr>
          <p:cNvPr id="215" name="Google Shape;215;p4"/>
          <p:cNvSpPr txBox="1"/>
          <p:nvPr/>
        </p:nvSpPr>
        <p:spPr>
          <a:xfrm>
            <a:off x="4443984" y="2852928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Validación + SQL</a:t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6254496" y="1965960"/>
            <a:ext cx="1691640" cy="1828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7DE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6821424" y="1572768"/>
            <a:ext cx="548640" cy="548640"/>
          </a:xfrm>
          <a:prstGeom prst="ellipse">
            <a:avLst/>
          </a:prstGeom>
          <a:solidFill>
            <a:srgbClr val="2D6E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18" name="Google Shape;218;p4"/>
          <p:cNvSpPr txBox="1"/>
          <p:nvPr/>
        </p:nvSpPr>
        <p:spPr>
          <a:xfrm>
            <a:off x="6391656" y="233172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Plantilla</a:t>
            </a:r>
            <a:endParaRPr/>
          </a:p>
        </p:txBody>
      </p:sp>
      <p:sp>
        <p:nvSpPr>
          <p:cNvPr id="219" name="Google Shape;219;p4"/>
          <p:cNvSpPr txBox="1"/>
          <p:nvPr/>
        </p:nvSpPr>
        <p:spPr>
          <a:xfrm>
            <a:off x="6391656" y="2852928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Configuración controlada</a:t>
            </a:r>
            <a:endParaRPr/>
          </a:p>
        </p:txBody>
      </p:sp>
      <p:sp>
        <p:nvSpPr>
          <p:cNvPr id="220" name="Google Shape;220;p4"/>
          <p:cNvSpPr/>
          <p:nvPr/>
        </p:nvSpPr>
        <p:spPr>
          <a:xfrm>
            <a:off x="8202167" y="1965960"/>
            <a:ext cx="1691640" cy="1828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7DE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8769095" y="1572768"/>
            <a:ext cx="548640" cy="548640"/>
          </a:xfrm>
          <a:prstGeom prst="ellipse">
            <a:avLst/>
          </a:prstGeom>
          <a:solidFill>
            <a:srgbClr val="2D6E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2" name="Google Shape;222;p4"/>
          <p:cNvSpPr txBox="1"/>
          <p:nvPr/>
        </p:nvSpPr>
        <p:spPr>
          <a:xfrm>
            <a:off x="8339327" y="233172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8339327" y="2852928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Dashboard simple</a:t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10149839" y="1965960"/>
            <a:ext cx="1691640" cy="1828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7DE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10716767" y="1572768"/>
            <a:ext cx="548640" cy="548640"/>
          </a:xfrm>
          <a:prstGeom prst="ellipse">
            <a:avLst/>
          </a:prstGeom>
          <a:solidFill>
            <a:srgbClr val="2D6E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6" name="Google Shape;226;p4"/>
          <p:cNvSpPr txBox="1"/>
          <p:nvPr/>
        </p:nvSpPr>
        <p:spPr>
          <a:xfrm>
            <a:off x="10286999" y="233172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Analista</a:t>
            </a:r>
            <a:endParaRPr/>
          </a:p>
        </p:txBody>
      </p:sp>
      <p:sp>
        <p:nvSpPr>
          <p:cNvPr id="227" name="Google Shape;227;p4"/>
          <p:cNvSpPr txBox="1"/>
          <p:nvPr/>
        </p:nvSpPr>
        <p:spPr>
          <a:xfrm>
            <a:off x="10286999" y="2852928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Revisión y aprobación</a:t>
            </a:r>
            <a:endParaRPr/>
          </a:p>
        </p:txBody>
      </p:sp>
      <p:sp>
        <p:nvSpPr>
          <p:cNvPr id="228" name="Google Shape;228;p4"/>
          <p:cNvSpPr txBox="1"/>
          <p:nvPr/>
        </p:nvSpPr>
        <p:spPr>
          <a:xfrm>
            <a:off x="777240" y="4572000"/>
            <a:ext cx="10607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El usuario mantiene el control: el resultado se revisa antes de aceptar.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El MVP se limita a cuatro plantillas: detalle, KPI + detalle, gráfico + detalle y tendencia simple.</a:t>
            </a:r>
            <a:endParaRPr/>
          </a:p>
        </p:txBody>
      </p:sp>
      <p:sp>
        <p:nvSpPr>
          <p:cNvPr id="229" name="Google Shape;229;p4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31" name="Google Shape;231;p4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CAPSTONE | BI + IA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"/>
          <p:cNvSpPr txBox="1"/>
          <p:nvPr/>
        </p:nvSpPr>
        <p:spPr>
          <a:xfrm>
            <a:off x="594360" y="3200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2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. Plan de trabajo — Scrum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Construcción incremental con backlog, Sprints, Review y Retrospectiva.</a:t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CAPSTONE | BI + IA</a:t>
            </a:r>
            <a:endParaRPr/>
          </a:p>
        </p:txBody>
      </p:sp>
      <p:pic>
        <p:nvPicPr>
          <p:cNvPr id="241" name="Google Shape;241;p5"/>
          <p:cNvPicPr preferRelativeResize="0"/>
          <p:nvPr/>
        </p:nvPicPr>
        <p:blipFill rotWithShape="1">
          <a:blip r:embed="rId3">
            <a:alphaModFix/>
          </a:blip>
          <a:srcRect b="12704" l="0" r="0" t="20078"/>
          <a:stretch/>
        </p:blipFill>
        <p:spPr>
          <a:xfrm>
            <a:off x="609438" y="1779750"/>
            <a:ext cx="10972801" cy="329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"/>
          <p:cNvSpPr txBox="1"/>
          <p:nvPr/>
        </p:nvSpPr>
        <p:spPr>
          <a:xfrm>
            <a:off x="594360" y="3200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2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. Tecnología y arquitectura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Stack propuesto y flujo lógico del MVP.</a:t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CAPSTONE | BI + IA</a:t>
            </a:r>
            <a:endParaRPr/>
          </a:p>
        </p:txBody>
      </p:sp>
      <p:pic>
        <p:nvPicPr>
          <p:cNvPr id="251" name="Google Shape;25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2175"/>
            <a:ext cx="11695126" cy="514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"/>
          <p:cNvSpPr/>
          <p:nvPr/>
        </p:nvSpPr>
        <p:spPr>
          <a:xfrm>
            <a:off x="0" y="-1582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7. Riesgos internos y externos</a:t>
            </a:r>
            <a:endParaRPr/>
          </a:p>
        </p:txBody>
      </p:sp>
      <p:sp>
        <p:nvSpPr>
          <p:cNvPr id="258" name="Google Shape;258;p8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Mitigaciones definidas para mantener el proyecto realizable.</a:t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40080" y="1325880"/>
            <a:ext cx="5303520" cy="429768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40080" y="1325880"/>
            <a:ext cx="73152" cy="4297680"/>
          </a:xfrm>
          <a:prstGeom prst="rect">
            <a:avLst/>
          </a:prstGeom>
          <a:solidFill>
            <a:srgbClr val="CD46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868680" y="1490472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Riesgos internos</a:t>
            </a:r>
            <a:endParaRPr/>
          </a:p>
        </p:txBody>
      </p:sp>
      <p:sp>
        <p:nvSpPr>
          <p:cNvPr id="262" name="Google Shape;262;p8"/>
          <p:cNvSpPr txBox="1"/>
          <p:nvPr/>
        </p:nvSpPr>
        <p:spPr>
          <a:xfrm>
            <a:off x="868680" y="1965960"/>
            <a:ext cx="48921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Alcance excesivo → mantener cuatro plantillas.</a:t>
            </a:r>
            <a:endParaRPr b="0" i="0" sz="1500" u="none" cap="none" strike="noStrike">
              <a:solidFill>
                <a:srgbClr val="232B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Poca experiencia → pruebas técnicas pequeñas y priorizadas.</a:t>
            </a:r>
            <a:endParaRPr b="0" i="0" sz="1500" u="none" cap="none" strike="noStrike">
              <a:solidFill>
                <a:srgbClr val="232B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Datos </a:t>
            </a:r>
            <a:r>
              <a:rPr lang="en-US" sz="1500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de prueba </a:t>
            </a: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inconsistentes → reglas + casos de prueba.</a:t>
            </a:r>
            <a:endParaRPr b="0" i="0" sz="1500" u="none" cap="none" strike="noStrike">
              <a:solidFill>
                <a:srgbClr val="232B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SQL/filtros incorrectos → validar esquema + solo SELECT.</a:t>
            </a:r>
            <a:endParaRPr b="0" i="0" sz="1500" u="none" cap="none" strike="noStrike">
              <a:solidFill>
                <a:srgbClr val="232B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Responsabilidades ambiguas → backlog visible y dueño por historia.</a:t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6217920" y="1325880"/>
            <a:ext cx="5303520" cy="429768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217920" y="1325880"/>
            <a:ext cx="73152" cy="4297680"/>
          </a:xfrm>
          <a:prstGeom prst="rect">
            <a:avLst/>
          </a:prstGeom>
          <a:solidFill>
            <a:srgbClr val="EB91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6446520" y="1490472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Riesgos externos</a:t>
            </a:r>
            <a:endParaRPr/>
          </a:p>
        </p:txBody>
      </p:sp>
      <p:sp>
        <p:nvSpPr>
          <p:cNvPr id="266" name="Google Shape;266;p8"/>
          <p:cNvSpPr txBox="1"/>
          <p:nvPr/>
        </p:nvSpPr>
        <p:spPr>
          <a:xfrm>
            <a:off x="6446520" y="1965960"/>
            <a:ext cx="48921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Costo/límites del LLM → proveedor intercambiable + control de consumo.</a:t>
            </a:r>
            <a:endParaRPr b="0" i="0" sz="1500" u="none" cap="none" strike="noStrike">
              <a:solidFill>
                <a:srgbClr val="232B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Licencias/acceso a Power BI → validar entorno temprano + contingencia.</a:t>
            </a:r>
            <a:endParaRPr b="0" i="0" sz="1500" u="none" cap="none" strike="noStrike">
              <a:solidFill>
                <a:srgbClr val="232B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Cambios de integraciones → aislar mediante JSON y plantillas.</a:t>
            </a:r>
            <a:endParaRPr b="0" i="0" sz="1500" u="none" cap="none" strike="noStrike">
              <a:solidFill>
                <a:srgbClr val="232B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Conectividad en demo → caso preparado + evidencia grabada.</a:t>
            </a:r>
            <a:b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• Privacidad → </a:t>
            </a:r>
            <a:r>
              <a:rPr lang="en-US" sz="1500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Pruebas con datos reales (dependencia)</a:t>
            </a:r>
            <a:r>
              <a:rPr b="0" i="0" lang="en-US" sz="15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69" name="Google Shape;269;p8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CAPSTONE | BI + IA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8. Target y potencial vendible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El producto vende rapidez, consistencia y trazabilidad; no libertad total de diseño.</a:t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594360" y="1325880"/>
            <a:ext cx="3474720" cy="15087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94360" y="1325880"/>
            <a:ext cx="73152" cy="1508760"/>
          </a:xfrm>
          <a:prstGeom prst="rect">
            <a:avLst/>
          </a:prstGeom>
          <a:solidFill>
            <a:srgbClr val="2D6E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822960" y="1490472"/>
            <a:ext cx="30632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Equipos BI pequeños</a:t>
            </a:r>
            <a:endParaRPr/>
          </a:p>
        </p:txBody>
      </p:sp>
      <p:sp>
        <p:nvSpPr>
          <p:cNvPr id="280" name="Google Shape;280;p9"/>
          <p:cNvSpPr txBox="1"/>
          <p:nvPr/>
        </p:nvSpPr>
        <p:spPr>
          <a:xfrm>
            <a:off x="822960" y="1965960"/>
            <a:ext cx="3063239" cy="731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Automatizar reportes repetitivos.</a:t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4389120" y="1325880"/>
            <a:ext cx="3474720" cy="15087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4389120" y="1325880"/>
            <a:ext cx="73152" cy="1508760"/>
          </a:xfrm>
          <a:prstGeom prst="rect">
            <a:avLst/>
          </a:prstGeom>
          <a:solidFill>
            <a:srgbClr val="32B4C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4617720" y="1490472"/>
            <a:ext cx="30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Empresas</a:t>
            </a:r>
            <a:endParaRPr/>
          </a:p>
        </p:txBody>
      </p:sp>
      <p:sp>
        <p:nvSpPr>
          <p:cNvPr id="284" name="Google Shape;284;p9"/>
          <p:cNvSpPr txBox="1"/>
          <p:nvPr/>
        </p:nvSpPr>
        <p:spPr>
          <a:xfrm>
            <a:off x="4617720" y="1965960"/>
            <a:ext cx="306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Reducir </a:t>
            </a:r>
            <a:r>
              <a:rPr lang="en-US" sz="1300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el tiempo </a:t>
            </a:r>
            <a:r>
              <a:rPr b="0" i="0" lang="en-US" sz="13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en-US" sz="1300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r>
              <a:rPr b="0" i="0" lang="en-US" sz="13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8183880" y="1325880"/>
            <a:ext cx="3474720" cy="15087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8183880" y="1325880"/>
            <a:ext cx="73152" cy="1508760"/>
          </a:xfrm>
          <a:prstGeom prst="rect">
            <a:avLst/>
          </a:prstGeom>
          <a:solidFill>
            <a:srgbClr val="2D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8412480" y="1490472"/>
            <a:ext cx="30632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Áreas de negocio</a:t>
            </a:r>
            <a:endParaRPr/>
          </a:p>
        </p:txBody>
      </p:sp>
      <p:sp>
        <p:nvSpPr>
          <p:cNvPr id="288" name="Google Shape;288;p9"/>
          <p:cNvSpPr txBox="1"/>
          <p:nvPr/>
        </p:nvSpPr>
        <p:spPr>
          <a:xfrm>
            <a:off x="8412480" y="1965960"/>
            <a:ext cx="3063239" cy="731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Solicitar información en lenguaje natural.</a:t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594360" y="3200400"/>
            <a:ext cx="3474720" cy="15087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94360" y="3200400"/>
            <a:ext cx="73152" cy="1508760"/>
          </a:xfrm>
          <a:prstGeom prst="rect">
            <a:avLst/>
          </a:prstGeom>
          <a:solidFill>
            <a:srgbClr val="EB91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822960" y="3364992"/>
            <a:ext cx="30632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Consultoras BI</a:t>
            </a:r>
            <a:endParaRPr/>
          </a:p>
        </p:txBody>
      </p:sp>
      <p:sp>
        <p:nvSpPr>
          <p:cNvPr id="292" name="Google Shape;292;p9"/>
          <p:cNvSpPr txBox="1"/>
          <p:nvPr/>
        </p:nvSpPr>
        <p:spPr>
          <a:xfrm>
            <a:off x="822960" y="3840480"/>
            <a:ext cx="3063239" cy="731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Estandarizar entregables básicos.</a:t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4389120" y="3200400"/>
            <a:ext cx="3474720" cy="15087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389120" y="3200400"/>
            <a:ext cx="73152" cy="1508760"/>
          </a:xfrm>
          <a:prstGeom prst="rect">
            <a:avLst/>
          </a:prstGeom>
          <a:solidFill>
            <a:srgbClr val="2D6E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4617720" y="3364992"/>
            <a:ext cx="30632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Instituciones educativas</a:t>
            </a:r>
            <a:endParaRPr/>
          </a:p>
        </p:txBody>
      </p:sp>
      <p:sp>
        <p:nvSpPr>
          <p:cNvPr id="296" name="Google Shape;296;p9"/>
          <p:cNvSpPr txBox="1"/>
          <p:nvPr/>
        </p:nvSpPr>
        <p:spPr>
          <a:xfrm>
            <a:off x="4617720" y="3840480"/>
            <a:ext cx="3063239" cy="731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Demostrar el flujo completo.</a:t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594350" y="5166350"/>
            <a:ext cx="10972800" cy="11175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594360" y="5166360"/>
            <a:ext cx="73152" cy="868680"/>
          </a:xfrm>
          <a:prstGeom prst="rect">
            <a:avLst/>
          </a:prstGeom>
          <a:solidFill>
            <a:srgbClr val="2D6E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815247" y="5212077"/>
            <a:ext cx="1056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/>
          </a:p>
        </p:txBody>
      </p:sp>
      <p:sp>
        <p:nvSpPr>
          <p:cNvPr id="300" name="Google Shape;300;p9"/>
          <p:cNvSpPr txBox="1"/>
          <p:nvPr/>
        </p:nvSpPr>
        <p:spPr>
          <a:xfrm>
            <a:off x="800160" y="5542453"/>
            <a:ext cx="1056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“Convierte una pregunta de negocio en un dashboard simple de Power BI listo para revisar, utilizando el modelo de datos y plantillas definidas por la organización.”</a:t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03" name="Google Shape;303;p9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CAPSTONE | BI + IA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594360" y="3200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Mockup - Fase inicial</a:t>
            </a:r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Debe representar exactamente lo que el MVP puede automatizar.</a:t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CAPSTONE | BI + IA</a:t>
            </a:r>
            <a:endParaRPr/>
          </a:p>
        </p:txBody>
      </p:sp>
      <p:pic>
        <p:nvPicPr>
          <p:cNvPr id="314" name="Google Shape;31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50" y="914400"/>
            <a:ext cx="11201000" cy="555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g3f9b2953a2f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75" y="918575"/>
            <a:ext cx="11420575" cy="578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f9b2953a2f_2_0"/>
          <p:cNvSpPr txBox="1"/>
          <p:nvPr/>
        </p:nvSpPr>
        <p:spPr>
          <a:xfrm>
            <a:off x="298560" y="2678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Mockup - Fase</a:t>
            </a:r>
            <a:r>
              <a:rPr b="1" lang="en-US" sz="2800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9. Conclusión</a:t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731520" y="1508760"/>
            <a:ext cx="3383280" cy="2377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731520" y="1508760"/>
            <a:ext cx="73152" cy="2377440"/>
          </a:xfrm>
          <a:prstGeom prst="rect">
            <a:avLst/>
          </a:prstGeom>
          <a:solidFill>
            <a:srgbClr val="32B4C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 txBox="1"/>
          <p:nvPr/>
        </p:nvSpPr>
        <p:spPr>
          <a:xfrm>
            <a:off x="960120" y="1673351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¿Es factible?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960120" y="2148839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Sí, si la automatización se mantiene dentro de plantillas simples y controladas.</a:t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4434840" y="1508760"/>
            <a:ext cx="3383280" cy="2377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4434840" y="1508760"/>
            <a:ext cx="73152" cy="2377440"/>
          </a:xfrm>
          <a:prstGeom prst="rect">
            <a:avLst/>
          </a:prstGeom>
          <a:solidFill>
            <a:srgbClr val="2DA0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4663440" y="1673351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¿Dónde está el valor?</a:t>
            </a:r>
            <a:endParaRPr/>
          </a:p>
        </p:txBody>
      </p:sp>
      <p:sp>
        <p:nvSpPr>
          <p:cNvPr id="334" name="Google Shape;334;p10"/>
          <p:cNvSpPr txBox="1"/>
          <p:nvPr/>
        </p:nvSpPr>
        <p:spPr>
          <a:xfrm>
            <a:off x="4663440" y="2148839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Automatizar de punta a punta una familia reducida de dashboards repetitivos.</a:t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8138160" y="1508760"/>
            <a:ext cx="3383280" cy="2377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8138160" y="1508760"/>
            <a:ext cx="73152" cy="2377440"/>
          </a:xfrm>
          <a:prstGeom prst="rect">
            <a:avLst/>
          </a:prstGeom>
          <a:solidFill>
            <a:srgbClr val="2D6ED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8366760" y="1673351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233C"/>
                </a:solidFill>
                <a:latin typeface="Calibri"/>
                <a:ea typeface="Calibri"/>
                <a:cs typeface="Calibri"/>
                <a:sym typeface="Calibri"/>
              </a:rPr>
              <a:t>Éxito del MVP</a:t>
            </a:r>
            <a:endParaRPr/>
          </a:p>
        </p:txBody>
      </p:sp>
      <p:sp>
        <p:nvSpPr>
          <p:cNvPr id="338" name="Google Shape;338;p10"/>
          <p:cNvSpPr txBox="1"/>
          <p:nvPr/>
        </p:nvSpPr>
        <p:spPr>
          <a:xfrm>
            <a:off x="8366760" y="2148839"/>
            <a:ext cx="2971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B34"/>
                </a:solidFill>
                <a:latin typeface="Calibri"/>
                <a:ea typeface="Calibri"/>
                <a:cs typeface="Calibri"/>
                <a:sym typeface="Calibri"/>
              </a:rPr>
              <a:t>Campos existentes + SQL válido + filtros correctos + detalle solicitado + plantilla respetada.</a:t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41" name="Google Shape;341;p10"/>
          <p:cNvSpPr txBox="1"/>
          <p:nvPr/>
        </p:nvSpPr>
        <p:spPr>
          <a:xfrm>
            <a:off x="621792" y="656539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CAPSTONE | BI + IA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